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3 menit. Tanyakan siapa yang tugas P9-nya sudah jalan. Sambungkan: minggu lalu datanya kita ketik manual, hari ini kita bangun tempat penyimpanannya.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JOIN dapat jatah terbesar. Kalau ada bagian yang harus dipotong karena kehabisan waktu, potong bagian agregat — jangan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Ajukan tiga pertanyaan ini ke murid satu per satu sebelum menunjukkan jawabannya. Biarkan mereka yang menyimpulkan bahwa array tidak cukup.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menit. Bagian pengantar, jangan berlama-lama.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restoran sudah dipakai di P9 slide 6. Sambungkan, jangan diulang dari nol.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penting: murid sering menyangka SQL itu seperti PHP. Tekankan bahwa SQL deklaratif — ini menurunkan ekspektasi keliru dan bikin mereka lebih santai.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menit. Pastikan MySQL sudah hijau di semua laptop sebelum lanjut ke bagian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istilah Inggrisnya juga (row, record, field) karena itu yang muncul di pesan error dan dokumentasi.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ke pengalaman mereka sendiri di P9. Ini bikin konsep primary key terasa sudah familiar, bukan hal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ini penting. Beberapa murid akan tergoda memakai tombol Create Table karena lebih mudah. Larang tegas hari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menit. Semua ditulis di tab SQL. Live coding — murid mengetik bersamaan.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yang pasti muncul: kenapa harga pakai INT bukan DECIMAL? Jawab: rupiah tidak pakai sen, INT lebih sederhana dan cepat.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TABLE: tekankan tidak ada Ctrl+Z. Ceritakan kalau perlu, ini kesalahan yang bisa bikin orang kehilangan pekerjaan di dunia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jebakan transisi dari PHP. Ulangi beberapa kali. Sekaligus INSERT data produk 8 baris dari modul — nanti dipakai sampai akhir sesi.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menit. Bagian terpanjang. Live coding terus — setiap query langsung dijalankan dan lihat hasilnya.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 kecil yang sering bikin murid kagum: SQL bisa menghitung. Jalankan query-nya live supaya mereka lihat kolom baru muncul dari ketiadaan.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jebakan NULL secara live: jalankan "WHERE kategori_id = NULL", tunjukkan hasilnya kosong padahal Webcam HD jelas ada. Baru tunjukkan IS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Bilang ke murid: ingat LIKE baik-baik, karena fitur search di P12 seluruhnya bergantung pada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Tulis S-F-W-G-H-O-L di papan tulis. Murid akan sering lupa urutannya di 3 pertemuan ke depan.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slide paling penting untuk keselamatan data mereka. Katakan: developer berpengalaman melakukan langkah SELECT-dulu ini seumur hidup. Ini disiplin profesional, bukan kehati-hatian pemula.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 WHERE dan HAVING adalah pertanyaan ujian klasik. Tekankan: WHERE duluan, HAVING belakangan.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menit. Ini fondasi JOIN. Kalau bagian ini nyangkut, JOIN akan terasa mudah.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kolom "Perangkat komputasi" yang berulang. Tanyakan: kalau produknya 5.000, berapa kali kalimat itu tertulis?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Webcam HD dengan kategori_id NULL. Katakan: ingat baris ini, sebentar lagi dia yang jadi bintang saat membahas LEFT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menit. Bagian terpenting pertemuan ini. Jangan sampai kehabisan waktu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error "ambiguous" secara live dengan sengaja menulis "nama" tanpa prefix. Murid akan ingat.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paling penting hari ini. Jalankan kedua query live dan minta murid menghitung sendiri jumlah barisnya. 7 vs 8 — perbedaannya harus mereka lihat, bukan cuma dengar.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Ajarkan pertanyaan tunggal ini sebagai alat berpikir, bukan hafalan. Murid akan memakainya seumur karier.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nyata di dunia kerja: cari user yang belum verifikasi email, cari produk yang belum pernah terjual, cari invoice yang belum dibayar. Semua polanya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pesanan aslinya cuma berisi angka-angka. Tunjukkan dulu SELECT * FROM pesanan yang isinya angka semua, baru jalankan query ini — kontrasnya kuat.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waktu mepet, slide ini boleh dipercepat — tapi jangan dilewat. Ini contoh paling nyata kenapa JOIN penting di dunia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murid memfoto. Rujuk slide ini setiap kali ada yang bertanya soal JOIN di sesi latihan.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query di kanan keras-keras sesuai urutan 1-7 sambil menunjuk. Praktikkan sekali, murid akan bisa menirunya.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4 adalah inti. Kalau waktu tinggal 20 menit, langsung mulai dari Latihan 4 soal 1-3 di kelas, sisanya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Larangan tema toko itu disengaja — supaya mereka merancang skema sendiri, bukan menyalin dari modul.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Sama seperti slide checklist di P9 — minta murid memfoto sebelum bubar.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dengan: jangan hapus database hari ini, minggu depan dipakai lagi. Pastikan mereka sudah Export .sql sebagai cadangan.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35661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HALTEV IT LEARNING CENTER  ·  WEB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Secara Permanen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5943600" cy="566928"/>
          </a:xfrm>
          <a:prstGeom prst="roundRect">
            <a:avLst>
              <a:gd name="adj" fmla="val 16129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39776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10   ·   2 jam   ·   XAMPP + phpMyAdmin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120 MENIT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Sesi Hari Ini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0136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Database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array &amp; pengenalan 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5106" y="180136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5106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33746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&amp; phpMyAdmin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Tabel, baris, kolom, primary key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3517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4685" y="180136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4685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23325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INSERT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92973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tabel dan mengisi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95020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44168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3816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dan menyaring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3938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5106" y="395020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5106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33746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 &amp; Relasi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03394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dan memecah tabel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73517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74685" y="395020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4685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23325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92973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hari ini — menggabungkan tabel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5760720"/>
            <a:ext cx="11002975" cy="502920"/>
          </a:xfrm>
          <a:prstGeom prst="roundRect">
            <a:avLst>
              <a:gd name="adj" fmla="val 14545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76072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tidak ada satu baris PHP pun. Semua ditulis langsung di phpMyAdmin.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PERTEMUAN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dengan Array Dummy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1002975" cy="1051560"/>
          </a:xfrm>
          <a:prstGeom prst="roundRect">
            <a:avLst>
              <a:gd name="adj" fmla="val 608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992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$daftarProduk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 Pro 14"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1002975" cy="640080"/>
          </a:xfrm>
          <a:prstGeom prst="roundRect">
            <a:avLst>
              <a:gd name="adj" fmla="val 10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26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 menambah produk lewat form — tersimpan?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86600" y="292608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Tidak. Hilang begitu halaman di-refresh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1002975" cy="640080"/>
          </a:xfrm>
          <a:prstGeom prst="roundRect">
            <a:avLst>
              <a:gd name="adj" fmla="val 10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03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Produknya ada 5.000 — mau ditulis manual?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370332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mungkin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480560"/>
            <a:ext cx="11002975" cy="640080"/>
          </a:xfrm>
          <a:prstGeom prst="roundRect">
            <a:avLst>
              <a:gd name="adj" fmla="val 10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80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orang menambah produk bersamaan?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448056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Kacau, saling menimpa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349240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34924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bagus untuk BELAJAR, tapi tidak bisa untuk aplikasi sungguhan.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butuh penyimpanan yang permanen — itulah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Database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apa itu SQL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Database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6280" y="1572768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PHP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61808" y="1572768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MySQL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848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084832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dalam file kode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61808" y="2084832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terpisah di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5968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Bertahan setelah refresh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596896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61808" y="2596896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Ya, permanen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1089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ditambah dari 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108960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61808" y="3108960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6210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realistis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621024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baris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61808" y="3621024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Jutaan baris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133088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cari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133088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Dicek satu per satu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61808" y="4133088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cepat (index)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" y="46451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Diakses banyak orang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645152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Kacau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61808" y="4645152"/>
            <a:ext cx="353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21208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2120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analogi restoran minggu lalu: PHP adalah dapur, MySQL adalah GUDANG BAHAN.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lalu kita masak pakai bahan yang ditulis di secarik kertas. Hari ini kita bangun gudangnya.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Dibaca Seperti Bahasa Inggris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11002975" cy="731520"/>
          </a:xfrm>
          <a:prstGeom prst="roundRect">
            <a:avLst>
              <a:gd name="adj" fmla="val 875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64792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harga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&gt;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nama, harga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32120" y="2697480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kolom nama dan harga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35584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55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3558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3355848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tabel produk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01421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stok &gt;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0142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4014216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stoknya lebih dari 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672584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725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harga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4672584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berdasarkan harga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48640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48640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bukan bahasa pemrograman. Tidak ada if, loop, atau function di sini.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cuma menyatakan DATA APA yang kamu mau — database yang memikirkan caranya.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&amp; phpMyAdmin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Tabel, baris, kolom, primary key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DATABASE RELASIONAL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yang Harus Kamu Kuasai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6280" y="1536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Excel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18120" y="1536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1002975" cy="45720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file workbook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toko_db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(table)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produk, kategori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788920"/>
            <a:ext cx="11002975" cy="45720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(column / field)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harga, stok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(row / record)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 produk utuh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703320"/>
            <a:ext cx="11002975" cy="45720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— penanda unik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31596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tabel produk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4700016"/>
            <a:ext cx="7863840" cy="365760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508760" y="4700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74920" y="4700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7000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5065776"/>
            <a:ext cx="7863840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65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508760" y="5065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5065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086600" y="5065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5431536"/>
            <a:ext cx="7863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431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508760" y="5431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74920" y="5431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86600" y="5431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4360" y="5797296"/>
            <a:ext cx="7863840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7972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508760" y="57972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Mekanik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74920" y="5797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350000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086600" y="5797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823960" y="5029200"/>
            <a:ext cx="2773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seperti spreadsheet — tapi dengan aturan yang jauh lebih ketat.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DATABASE RELASIONAL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Kenapa Wajib Ada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ada dua produk dengan nama yang sama persis. Bagaimana kamu memberi tahu database "hapus yang INI, bukan yang ITU"?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651760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263347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" y="320040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ada dua baris dengan id yang sama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8698" y="2450592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9866" y="2651760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9866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18506" y="263347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kosong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88154" y="320040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baris wajib punya id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43037" y="2450592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4205" y="2651760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4205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92845" y="263347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berubah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2493" y="320040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dibuat, jangan pernah diedit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4160520"/>
            <a:ext cx="11002975" cy="685800"/>
          </a:xfrm>
          <a:prstGeom prst="roundRect">
            <a:avLst>
              <a:gd name="adj" fmla="val 9333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29768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AUTO_INCREMENT: database mengisi sendiri 1, 2, 3, ... kamu tidak perlu memikirkannya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074920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0749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latihan katalog di P9? Kamu menulis "id" =&gt; 1 di tiap produk.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Naluri kamu sudah benar — itu memang primary key, cuma waktu itu masih ditulis manual.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phpMyAdmin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454298" cy="1207008"/>
          </a:xfrm>
          <a:prstGeom prst="roundRect">
            <a:avLst>
              <a:gd name="adj" fmla="val 606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773936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7556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" y="23225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belum jalan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8698" y="1572768"/>
            <a:ext cx="3454298" cy="1207008"/>
          </a:xfrm>
          <a:prstGeom prst="roundRect">
            <a:avLst>
              <a:gd name="adj" fmla="val 606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9866" y="1773936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9866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18506" y="17556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MySQL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8154" y="23225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sampai HIJAU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3037" y="1572768"/>
            <a:ext cx="3454298" cy="1207008"/>
          </a:xfrm>
          <a:prstGeom prst="roundRect">
            <a:avLst>
              <a:gd name="adj" fmla="val 606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4205" y="1773936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4205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92845" y="175564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phpMyAdmin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2493" y="23225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localhost/phpmyadmin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2999232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layar yang perlu dikenali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11002975" cy="502920"/>
          </a:xfrm>
          <a:prstGeom prst="rect">
            <a:avLst/>
          </a:prstGeom>
          <a:solidFill>
            <a:srgbClr val="F5F4FA"/>
          </a:solidFill>
          <a:ln w="6350">
            <a:solidFill>
              <a:srgbClr val="F0EF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kiri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29000" y="3383280"/>
            <a:ext cx="7985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semua database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886200"/>
            <a:ext cx="1100297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F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Structure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29000" y="3886200"/>
            <a:ext cx="7985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tabel — daftar kolom &amp; tipenya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389120"/>
            <a:ext cx="11002975" cy="502920"/>
          </a:xfrm>
          <a:prstGeom prst="rect">
            <a:avLst/>
          </a:prstGeom>
          <a:solidFill>
            <a:srgbClr val="F5F4FA"/>
          </a:solidFill>
          <a:ln w="6350">
            <a:solidFill>
              <a:srgbClr val="F0EF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Browse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29000" y="4389120"/>
            <a:ext cx="7985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tabel — data yang tersimpan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4892040"/>
            <a:ext cx="11002975" cy="502920"/>
          </a:xfrm>
          <a:prstGeom prst="rect">
            <a:avLst/>
          </a:prstGeom>
          <a:solidFill>
            <a:srgbClr val="EEEBF9"/>
          </a:solidFill>
          <a:ln w="15240">
            <a:solidFill>
              <a:srgbClr val="5B4B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892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SQL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29000" y="4892040"/>
            <a:ext cx="7985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kita menulis perintah — PALING SERING DIPAKAI HARI INI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" y="553212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53212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pakai tab SQL, BUKAN tombol-tombolnya. Kalau kamu selalu pakai tombol, kamu tidak akan pernah bisa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query di PHP nanti — karena di PHP yang kamu tulis adalah SQL, bukan klik.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INSERT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tabel dan mengisi data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Data: Wajib Ditentukan Sejak Awal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PHP yang bebas, di MySQL setiap kolom wajib ditentukan tipenya saat tabel dibuat.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19659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bulat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·  9990000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5868" y="1965960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8748" y="19659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76108" y="19659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pendek, maks n karakter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70668" y="1965960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'Laptop Pro 14'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715768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1576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2715768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panjang (deskripsi)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715768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Paragraf panjang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5868" y="2715768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8748" y="271576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DECIMAL(10,2)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76108" y="2715768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desimal presisi (uang)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70668" y="2715768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150000.50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3465576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6557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14600" y="346557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465576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5868" y="3465576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8748" y="346557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76108" y="346557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+ jam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70668" y="3465576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2026-08-01 14:30:00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215384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2153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ENUM(...)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514600" y="421538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terbatas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215384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ENUM('aktif','nonaktif')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5868" y="4215384"/>
            <a:ext cx="5341468" cy="621792"/>
          </a:xfrm>
          <a:prstGeom prst="roundRect">
            <a:avLst>
              <a:gd name="adj" fmla="val 882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8748" y="42153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76108" y="421538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/ salah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70668" y="4215384"/>
            <a:ext cx="10437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·  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" y="5138928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138928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uang: pakai INT (rupiah tanpa sen) atau DECIMAL (kalau ada pecahan).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pakai FLOAT — hasil hitungannya bisa meleset karena pembulatan.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Membedah CREATE TABLE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760720" cy="2103120"/>
          </a:xfrm>
          <a:prstGeom prst="roundRect">
            <a:avLst>
              <a:gd name="adj" fmla="val 3043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AUTO_INCREMENT PRIMARY KEY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harga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NOT NULL DEFAULT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stok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NOT NULL DEFAULT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kategori_id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0" y="1600200"/>
            <a:ext cx="2910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mengisi sendiri: 1, 2, 3, 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2029968"/>
            <a:ext cx="2910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ini penanda unik tabel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4597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0" y="2459736"/>
            <a:ext cx="2910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maksimal 100 karakter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2889504"/>
            <a:ext cx="2910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diisi — database menolak kalau kosong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319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0" y="3319272"/>
            <a:ext cx="2910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tidak diisi, otomatis bernilai 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840480"/>
            <a:ext cx="4922215" cy="566928"/>
          </a:xfrm>
          <a:prstGeom prst="roundRect">
            <a:avLst>
              <a:gd name="adj" fmla="val 12903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840480"/>
            <a:ext cx="4373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kategori_id sengaja TIDAK dikasih NOT NULL — nanti dipakai untuk demo LEFT JOIN.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pendukung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4892040"/>
            <a:ext cx="11002975" cy="960120"/>
          </a:xfrm>
          <a:prstGeom prst="roundRect">
            <a:avLst>
              <a:gd name="adj" fmla="val 6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02920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lihat struktur tabel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lihat semua tabel di database ini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HAPUS tabel + seluruh isinya, TANPA konfirmasi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Memasukkan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760720" cy="1371600"/>
          </a:xfrm>
          <a:prstGeom prst="roundRect">
            <a:avLst>
              <a:gd name="adj" fmla="val 4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453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(nama)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'Komputer'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kolom id tidak ditulis!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874520"/>
            <a:ext cx="4876495" cy="1371600"/>
          </a:xfrm>
          <a:prstGeom prst="roundRect">
            <a:avLst>
              <a:gd name="adj" fmla="val 4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5453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BARIS SEKALIGUS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2011680"/>
            <a:ext cx="4510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(nama)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'Komputer'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'Aksesoris'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'Audio'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456432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penulisan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5341468" cy="548640"/>
          </a:xfrm>
          <a:prstGeom prst="roundRect">
            <a:avLst>
              <a:gd name="adj" fmla="val 10000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diapit petik SATU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3840480"/>
            <a:ext cx="2095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'Laptop Pro 14'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3840480"/>
            <a:ext cx="5341468" cy="548640"/>
          </a:xfrm>
          <a:prstGeom prst="roundRect">
            <a:avLst>
              <a:gd name="adj" fmla="val 10000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8748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tanpa petik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19108" y="3840480"/>
            <a:ext cx="2095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498848"/>
            <a:ext cx="5341468" cy="548640"/>
          </a:xfrm>
          <a:prstGeom prst="roundRect">
            <a:avLst>
              <a:gd name="adj" fmla="val 10000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988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 ditulis NULL, tanpa petik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498848"/>
            <a:ext cx="2095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55868" y="4498848"/>
            <a:ext cx="5341468" cy="548640"/>
          </a:xfrm>
          <a:prstGeom prst="roundRect">
            <a:avLst>
              <a:gd name="adj" fmla="val 10000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8748" y="44988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VALUES = urutan kolom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9108" y="4498848"/>
            <a:ext cx="2095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(nama, harga) → ('Mouse', 150000)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285232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8523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SQL, string memakai PETIK SATU ( ' ) — kebalikan dari kebiasaanmu di PHP.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Petik dua kadang diterima MySQL, tapi petik satu adalah standar yang berlaku di semua database.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&amp; Menyaring Data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BY, LIMIT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Membaca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760720" cy="1234440"/>
          </a:xfrm>
          <a:prstGeom prst="roundRect">
            <a:avLst>
              <a:gd name="adj" fmla="val 518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produk;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semua kolom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harga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876495" cy="1234440"/>
          </a:xfrm>
          <a:prstGeom prst="roundRect">
            <a:avLst>
              <a:gd name="adj" fmla="val 5926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600200"/>
            <a:ext cx="4327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Biasakan menulis nama kolom, bukan *. Kalau tabelmu punya 20 kolom dan kamu cuma butuh 2, SELECT * memaksa database membaca 18 kolom yang tidak terpakai.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— memberi nama panggilan, dan SQL bisa menghitung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5760720" cy="1463040"/>
          </a:xfrm>
          <a:prstGeom prst="roundRect">
            <a:avLst>
              <a:gd name="adj" fmla="val 437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5661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 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nama_produk,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harga    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harga_satuan,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harga * stok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nilai_stok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3429000"/>
            <a:ext cx="4876495" cy="365760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nama_produk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6840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harga_satuan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69880" y="34290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nilai_stok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3794760"/>
            <a:ext cx="4876495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69880" y="3794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39960000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4160520"/>
            <a:ext cx="487649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 inch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69880" y="4160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6300000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526280"/>
            <a:ext cx="4876495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4526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69880" y="45262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516636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663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kolom nilai_stok — kolom itu TIDAK ADA di tabel.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dihitung saat query dijalankan. SQL bisa berhitung, bukan cuma mengambil.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Menyaring Baris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WHERE, query memproses SELURUH isi tabel. Dengan WHERE, kamu memilih baris mana yang diproses.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1002975" cy="54864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dengan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96596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kategori_id = 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  atau  !=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sama dengan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51460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stok &lt;&gt;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11002975" cy="54864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&lt;  &gt;=  &lt;=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besar / kecil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06324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harga &gt;= 500000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a AND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antara, termasuk a dan 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61188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harga BETWEEN 100000 AND 500000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11002975" cy="54864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(a, b, c)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salah satu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kategori_id IN (1, 3)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Bernilai kosong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70916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kategori_id IS NULL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39496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3949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NULL wajib pakai IS NULL, BUKAN = NULL. Query "WHERE kategori_id = NULL" tidak error,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hasilnya SELALU kosong — jebakan yang bisa bikin orang bingung berjam-jam.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Kondisi &amp; Mencari Teks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1002975" cy="1463040"/>
          </a:xfrm>
          <a:prstGeom prst="roundRect">
            <a:avLst>
              <a:gd name="adj" fmla="val 437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992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Produk aksesoris yang masih ada stoknya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&gt;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Perhatikan tanda kurung!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&gt;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00400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kurung, AND dieksekusi lebih dulu daripada OR — persis seperti perkalian sebelum penjumlahan. Kalau ragu, SELALU pakai kurung.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— pencarian teks (dipakai untuk fitur search di P12)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370832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507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'%mouse%'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047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'%mouse%'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5047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Mengandung "mouse" di mana saja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5358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'mouse%'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5358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DIAWALI "mouse"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5669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'%pad'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5669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DIAKHIRI "pad"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59801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'M_use'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31720" y="59801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= tepat satu karakter bebas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370832"/>
            <a:ext cx="5150815" cy="1737360"/>
          </a:xfrm>
          <a:prstGeom prst="roundRect">
            <a:avLst>
              <a:gd name="adj" fmla="val 4211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370832"/>
            <a:ext cx="46021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% artinya "boleh ada karakter apa saja, berapa pun banyaknya".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default MySQL tidak membedakan huruf besar-kecil, jadi '%mouse%' juga menemukan "Mouse Wireless".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DAN MEMBATASI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&amp; LIMIT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002975" cy="1481328"/>
          </a:xfrm>
          <a:prstGeom prst="roundRect">
            <a:avLst>
              <a:gd name="adj" fmla="val 4321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73352"/>
            <a:ext cx="1063721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termurah dulu (default)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termahal dulu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Kelompokkan per kategori, di dalamnya urutkan dari termahal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nama, kategori_id, 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+ OFFSET — fondasi paginasi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529584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666744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halaman 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halaman 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halaman 3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OFFSET = lewati sekian baris dulu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3529584"/>
            <a:ext cx="3870655" cy="1371600"/>
          </a:xfrm>
          <a:prstGeom prst="roundRect">
            <a:avLst>
              <a:gd name="adj" fmla="val 533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3529584"/>
            <a:ext cx="3322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paginasi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"Halaman 1 2 3 →"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kamu buat di P12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rumusnya persis begini: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= (halaman − 1) ×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074920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0749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klausa TIDAK BOLEH ditukar:   SELECT → FROM → WHERE → GROUP BY → HAVING → ORDER BY → LIMIT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mengingat: S-F-W-G-H-O-L. Taruh ORDER BY sebelum WHERE, MySQL langsung menolak.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DAN MENGHAPUS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DELETE: Slide Paling Berbahaya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1002975" cy="1234440"/>
          </a:xfrm>
          <a:prstGeom prst="roundRect">
            <a:avLst>
              <a:gd name="adj" fmla="val 518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9928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8990000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= harga 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1002975" cy="868680"/>
          </a:xfrm>
          <a:prstGeom prst="roundRect">
            <a:avLst>
              <a:gd name="adj" fmla="val 7368"/>
            </a:avLst>
          </a:prstGeom>
          <a:solidFill>
            <a:srgbClr val="3A1614"/>
          </a:solidFill>
          <a:ln w="6350">
            <a:solidFill>
              <a:srgbClr val="3A16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2004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=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SEMUA produk jadi Rp 0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SEMUA produk terhapus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TIDAK error. MySQL menjalankannya dengan patuh — tanpa konfirmasi, tanpa cara membatalkan.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828032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yang harus kamu bangun sejak hari ini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212080"/>
            <a:ext cx="11002975" cy="868680"/>
          </a:xfrm>
          <a:prstGeom prst="roundRect">
            <a:avLst>
              <a:gd name="adj" fmla="val 7368"/>
            </a:avLst>
          </a:prstGeom>
          <a:solidFill>
            <a:srgbClr val="10331F"/>
          </a:solidFill>
          <a:ln w="6350">
            <a:solidFill>
              <a:srgbClr val="1033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3492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Langkah 1: pastikan dulu — baris mana yang akan terkena?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Langkah 2: baru DELETE, dengan WHERE yang sama persis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MERINGKAS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Agregat &amp; GROUP BY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2545004" cy="685800"/>
          </a:xfrm>
          <a:prstGeom prst="roundRect">
            <a:avLst>
              <a:gd name="adj" fmla="val 8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270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3684" y="1536192"/>
            <a:ext cx="2545004" cy="685800"/>
          </a:xfrm>
          <a:prstGeom prst="roundRect">
            <a:avLst>
              <a:gd name="adj" fmla="val 8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0844" y="1600200"/>
            <a:ext cx="2270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0844" y="187452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Menjumlahkan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536192"/>
            <a:ext cx="2545004" cy="685800"/>
          </a:xfrm>
          <a:prstGeom prst="roundRect">
            <a:avLst>
              <a:gd name="adj" fmla="val 8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1600200"/>
            <a:ext cx="2270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0168" y="187452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331" y="1536192"/>
            <a:ext cx="2545004" cy="685800"/>
          </a:xfrm>
          <a:prstGeom prst="roundRect">
            <a:avLst>
              <a:gd name="adj" fmla="val 8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491" y="1600200"/>
            <a:ext cx="2270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 / MAX()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89491" y="187452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Terkecil / terbesar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24231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meringkas per kelompok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2816352"/>
            <a:ext cx="5760720" cy="1371600"/>
          </a:xfrm>
          <a:prstGeom prst="roundRect">
            <a:avLst>
              <a:gd name="adj" fmla="val 4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295351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kategori_id,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jumlah_produk,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(harga)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harga_rata_rata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kategori_id;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2816352"/>
            <a:ext cx="4876495" cy="329184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816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28163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jumlah_produk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12680" y="28163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harga_rata_rata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145536"/>
            <a:ext cx="4876495" cy="329184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1455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31455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12680" y="31455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474720"/>
            <a:ext cx="48764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4747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12680" y="34747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6045000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3803904"/>
            <a:ext cx="4876495" cy="329184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803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38039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12680" y="38039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4133088"/>
            <a:ext cx="48764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41330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75320" y="4133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12680" y="413308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562500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43484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4348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Perhatikan: hasilnya masih berupa ANGKA kategori_id, bukan nama kategorinya. Itu masalah yang akan dipecahkan JOIN.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5193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WHERE untuk hasil agregat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94360" y="5504688"/>
            <a:ext cx="11002975" cy="566928"/>
          </a:xfrm>
          <a:prstGeom prst="roundRect">
            <a:avLst>
              <a:gd name="adj" fmla="val 1129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56418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kategori_id,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 &gt;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&gt;=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WHERE menyaring BARIS sebelum dikelompokkan  ·  HAVING menyaring HASIL setelah dikelompokkan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data dipecah ke beberapa tabel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Tidak Satu Tabel Saja?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02975" cy="365760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nama_produk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807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nama_kategori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58200" y="1554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deskripsi_kategori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1920240"/>
            <a:ext cx="11002975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173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434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58200" y="1920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komputasi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286000"/>
            <a:ext cx="1100297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173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 inch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43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2100000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22860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komputasi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2651760"/>
            <a:ext cx="11002975" cy="36576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4173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434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807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58200" y="26517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Pelengkap komputer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3017520"/>
            <a:ext cx="1100297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4173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Mekanik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434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350000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807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58200" y="30175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Pelengkap komputer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33375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baik-baik saja. Tapi ada tiga penyakit serius di sini: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94360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" y="4005072"/>
            <a:ext cx="402336" cy="402336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62456" y="3986784"/>
            <a:ext cx="2448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Pemborosan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0392" y="4553712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"Komputer" dan "Perangkat komputasi" ditulis ulang di setiap baris. Dengan 5.000 produk, teks yang sama tertulis ribuan kali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68698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6442" y="4005072"/>
            <a:ext cx="402336" cy="402336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0644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36794" y="3986784"/>
            <a:ext cx="2448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update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624730" y="4553712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ganti "Aksesoris" jadi "Aksesoris Komputer"? Harus diubah di SEMUA baris. Terlewat satu → data tidak konsisten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43037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80781" y="4005072"/>
            <a:ext cx="402336" cy="402336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80781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911133" y="3986784"/>
            <a:ext cx="2448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salah ketik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399069" y="4553712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yang mengetik "Aksesoris", yang lain "aksesoris" atau "Asesoris" — sekarang ada 3 kategori yang sebenarnya sama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Pecah Jadi Dua Tabel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2926080" cy="347472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47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2926080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54203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420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1732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889504"/>
            <a:ext cx="2926080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95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51960" y="1536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847088"/>
            <a:ext cx="7342632" cy="347472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847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1847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38160" y="18470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66960" y="184708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kategori_id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2194560"/>
            <a:ext cx="7342632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194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2194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38160" y="2194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66960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51960" y="2542032"/>
            <a:ext cx="73426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2542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0" y="25420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 inch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38160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2100000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66960" y="254203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251960" y="2889504"/>
            <a:ext cx="7342632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2889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0" y="28895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38160" y="28895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966960" y="28895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3236976"/>
            <a:ext cx="73426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236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0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HD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38160" y="3236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520000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966960" y="323697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" y="384048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384048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 mengganti nama kategori cukup SATU baris, dan semua produk otomatis ikut berubah.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5943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— jembatan antar tabel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965960" y="4882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26280" y="4882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94360" y="5202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965960" y="5202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asal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26280" y="5202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yang menunjuk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4360" y="5522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55229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kategori.id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26280" y="55229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produk.kategori_id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" y="58430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965960" y="5843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Unik, satu per baris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26280" y="5843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berulang, boleh NULL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909560" y="4526280"/>
            <a:ext cx="3687775" cy="1371600"/>
          </a:xfrm>
          <a:prstGeom prst="roundRect">
            <a:avLst>
              <a:gd name="adj" fmla="val 466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092440" y="466344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kategori           produk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┌────────┐      ┌──────────────┐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id (PK)│◄─────┤ kategori_id  │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nama   │ 1:N  │ (FK)         │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└────────┘      └──────────────┘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Satu kategori → banyak produk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hari ini — menyatukan kembali tabel yang dipecah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JOIN: Bentuk Paling Dasar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1 dan 2 di kolom kategori_id tidak berarti apa-apa bagi pengunjung website. Yang mereka butuhkan adalah "Komputer" — dan nama itu ada di tabel sebelah.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6035040" cy="1600200"/>
          </a:xfrm>
          <a:prstGeom prst="roundRect">
            <a:avLst>
              <a:gd name="adj" fmla="val 400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produk.nama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nama_produk,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produk.harga,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kategori.nama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nama_kategori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produk.kategori_id = kategori.id;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06840" y="196596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yang jadi acuan utama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kategori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06840" y="251460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apa yang mau ditempelkan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06840" y="306324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pencocokan — baris mana dipasangkan dengan baris mana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611880"/>
            <a:ext cx="4739335" cy="566928"/>
          </a:xfrm>
          <a:prstGeom prst="roundRect">
            <a:avLst>
              <a:gd name="adj" fmla="val 1290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611880"/>
            <a:ext cx="4190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ON = setiap produk dipasangkan ke setiap kategori. 8 × 3 = 24 baris sampah.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nama tabel itu wajib saat JOIN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11002975" cy="1417320"/>
          </a:xfrm>
          <a:prstGeom prst="roundRect">
            <a:avLst>
              <a:gd name="adj" fmla="val 4516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80060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Kedua tabel sama-sama punya kolom "nama". Tulis "nama" saja → error: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Column 'nama' in field list is ambiguous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Alias tabel bikin query jauh lebih ringkas — semua developer menulis begini: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p.nama, k.nama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p.kategori_id = k.id;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PERBEDAAN YANG HARUS KAMU LIHAT SENDIRI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vs LEFT JOIN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18608" cy="566928"/>
          </a:xfrm>
          <a:prstGeom prst="roundRect">
            <a:avLst>
              <a:gd name="adj" fmla="val 1129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9961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p.kategori_id = k.id;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5318608" cy="278892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42032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nama_produk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86200" y="2542032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nama_kategori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20924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20924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86200" y="2820924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099816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9816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 inch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3099816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378708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78708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3378708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657600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57600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Mekanik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86200" y="3657600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936492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36492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Mousepad XL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86200" y="3936492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4215384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215384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Gaming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86200" y="4215384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4494276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494276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Bluetooth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86200" y="4494276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5138928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baris — Webcam HD HILANG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78728" y="1828800"/>
            <a:ext cx="5318608" cy="566928"/>
          </a:xfrm>
          <a:prstGeom prst="roundRect">
            <a:avLst>
              <a:gd name="adj" fmla="val 1129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78728" y="149961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61608" y="19659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p.kategori_id = k.id;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78728" y="2542032"/>
            <a:ext cx="5318608" cy="278892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0168" y="2542032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nama_produk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70568" y="2542032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nama_kategori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78728" y="2820924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0168" y="2820924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70568" y="2820924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78728" y="3099816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0168" y="3099816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 inch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70568" y="3099816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78728" y="3378708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0168" y="3378708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70568" y="3378708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78728" y="3657600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0168" y="3657600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Mekanik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570568" y="3657600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78728" y="3936492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0168" y="3936492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Mousepad XL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570568" y="3936492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Aksesoris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78728" y="4215384"/>
            <a:ext cx="5318608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0168" y="4215384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Gaming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570568" y="4215384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78728" y="4494276"/>
            <a:ext cx="5318608" cy="27889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0168" y="4494276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Bluetooth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570568" y="4494276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278728" y="4773168"/>
            <a:ext cx="5318608" cy="278892"/>
          </a:xfrm>
          <a:prstGeom prst="rect">
            <a:avLst/>
          </a:prstGeom>
          <a:solidFill>
            <a:srgbClr val="E7F5ED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70168" y="4773168"/>
            <a:ext cx="30175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HD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570568" y="4773168"/>
            <a:ext cx="193852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78728" y="5138928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baris — Webcam HD MUNCUL, kategori NULL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594360" y="5504688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550468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 =  hanya baris yang PUNYA PASANGAN di kedua tabel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  =  SEMUA baris tabel kiri; yang tidak punya pasangan diisi NULL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atau LEFT? Satu Pertanyaan Saja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data pasangannya tidak ada, barisnya masih perlu tampil tidak?"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produk untuk pembeli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5603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produk harus tampil walau belum dikategorikan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46920" y="2688336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2688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73552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355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penjualan per kategori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2735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tanpa kategori memang tidak relevan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46920" y="340156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3401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986784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86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pelanggan + jumlah pesanan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39867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yang belum pernah pesan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46920" y="411480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700016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70001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pesanan + siapa pemesannya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92040" y="47000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pasti punya pemesan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46920" y="4828032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4828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5504688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504688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ragu, pakai LEFT JOIN. Datamu tidak akan hilang diam-diam 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kehilangan baris tanpa sadar jauh lebih berbahaya daripada memunculkan beberapa NULL.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LEFT JOIN + IS NULL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Data yang "Bolong"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 LEFT JOIN + IS NULL adalah cara standar mencari data yatim piatu — pola yang dipakai developer di mana-mana.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1002975" cy="1188720"/>
          </a:xfrm>
          <a:prstGeom prst="roundRect">
            <a:avLst>
              <a:gd name="adj" fmla="val 538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MANA YANG BELUM PUNYA KATEGORI?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p.nama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p.kategori_id = k.id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k.id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→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Webcam HD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11002975" cy="1188720"/>
          </a:xfrm>
          <a:prstGeom prst="roundRect">
            <a:avLst>
              <a:gd name="adj" fmla="val 538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4845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MANA YANG BELUM PERNAH MEMESAN?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pl.nama, pl.kota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pelanggan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pl.id = ps.pelanggan_id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ps.id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→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Rina Lestari, Surabaya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544068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4068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Polanya selalu sama: LEFT JOIN dulu supaya semua baris kiri ikut, lalu saring yang pasangannya NULL.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Tiga Tabel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1002975" cy="2011680"/>
          </a:xfrm>
          <a:prstGeom prst="roundRect">
            <a:avLst>
              <a:gd name="adj" fmla="val 3182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992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ps.id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no_pesanan, pl.nama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pembeli, p.nama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ps.jumlah, p.harga * ps.jumlah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total, ps.tanggal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pelanggan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ps.pelanggan_id = pl.id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 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ps.produk_id    = p.id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ps.tanggal;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11002975" cy="320040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258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033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1228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38360" y="379476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11002975" cy="32004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Santoso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38360" y="41148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11002975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34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2588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Santoso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0332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Wireless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0956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38360" y="443484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754880"/>
            <a:ext cx="11002975" cy="32004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54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2588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Aminah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0332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Mekanik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09560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38360" y="475488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" y="5074920"/>
            <a:ext cx="11002975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074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2588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Wijaya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03320" y="5074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 14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12280" y="5074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909560" y="5074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9990000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738360" y="507492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" y="5394960"/>
            <a:ext cx="11002975" cy="320040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394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32588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Wijaya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0332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Bluetooth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12280" y="5394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09560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2025000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738360" y="539496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94360" y="56692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Polanya sederhana: setiap tabel tambahan = satu baris JOIN ... ON ... lagi. Tidak ada batasnya.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KOMBINASI PALING BERGUNA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GROUP BY: Membuat Laporan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6400800" cy="1874520"/>
          </a:xfrm>
          <a:prstGeom prst="roundRect">
            <a:avLst>
              <a:gd name="adj" fmla="val 341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43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BELANJA TIAP PELANGGAN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09928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pl.nama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pembeli,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(ps.id)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jumlah_transaksi,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(p.harga * ps.jumlah)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total_belanja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pelanggan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pl.id = ps.pelanggan_id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ps.produk_id = p.id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pl.id, pl.nama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total_belanja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572768"/>
            <a:ext cx="4236415" cy="347472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572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572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69880" y="1572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total_belanja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1920240"/>
            <a:ext cx="4236415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Wijaya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81160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69880" y="192024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12015000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2267712"/>
            <a:ext cx="423641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Santoso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1160" y="22677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69880" y="2267712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10375000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2615184"/>
            <a:ext cx="4236415" cy="347472"/>
          </a:xfrm>
          <a:prstGeom prst="rect">
            <a:avLst/>
          </a:prstGeom>
          <a:solidFill>
            <a:srgbClr val="F5F4FA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615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Aminah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615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69880" y="2615184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60920" y="2962656"/>
            <a:ext cx="4236415" cy="347472"/>
          </a:xfrm>
          <a:prstGeom prst="rect">
            <a:avLst/>
          </a:prstGeom>
          <a:solidFill>
            <a:srgbClr val="E7F5ED"/>
          </a:solidFill>
          <a:ln w="6350">
            <a:solidFill>
              <a:srgbClr val="E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962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Rina Lestari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2962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69880" y="2962656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3383280"/>
            <a:ext cx="4236415" cy="777240"/>
          </a:xfrm>
          <a:prstGeom prst="roundRect">
            <a:avLst>
              <a:gd name="adj" fmla="val 9412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38328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Rina tetap muncul dengan 0 transaksi. Kalau tadi pakai INNER JOIN, Rina hilang dari laporan tanpa jejak.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37490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749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harus menyertakan semua kolom non-agregat.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94360" y="443484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43484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COUNT(ps.id) dan bukan COUNT(*)?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menghitung BARIS — baris Rina tetap ada (isinya NULL), jadi hasilnya 1, salah.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COUNT(nama_kolom) TIDAK menghitung NULL, sehingga Rina benar-benar dapat 0.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94360" y="55321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kecil yang sering luput, tapi membedakan laporan yang benar dari laporan yang menyesatkan.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SIMPAN SLIDE INI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 saat JOIN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0060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49640" y="15361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Perbaikannya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11002975" cy="676656"/>
          </a:xfrm>
          <a:prstGeom prst="roundRect">
            <a:avLst>
              <a:gd name="adj" fmla="val 810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0195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menulis 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90195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membengkak jadi ratusan baris tidak masuk akal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49640" y="1901952"/>
            <a:ext cx="28648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tulis ON tabelA.fk = tabelB.pk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1100297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88336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nama tanpa prefix tabel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68833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'nama' in field list is ambiguous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9640" y="2688336"/>
            <a:ext cx="28648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p.nama atau k.nama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1002975" cy="676656"/>
          </a:xfrm>
          <a:prstGeom prst="roundRect">
            <a:avLst>
              <a:gd name="adj" fmla="val 810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7472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INNER padahal butuh semua baris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baris hilang diam-diam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3474720"/>
            <a:ext cx="28648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ke LEFT JOIN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261104"/>
            <a:ext cx="1100297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61104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menyambung kolom yang salah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26110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tampil tapi isinya ngawur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9640" y="4261104"/>
            <a:ext cx="28648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FK dipasangkan ke PK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047488"/>
            <a:ext cx="11002975" cy="676656"/>
          </a:xfrm>
          <a:prstGeom prst="roundRect">
            <a:avLst>
              <a:gd name="adj" fmla="val 810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04748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tidak lengkap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504748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atau hasil tidak terduga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49640" y="5047488"/>
            <a:ext cx="28648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semua kolom non-agregat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5870448"/>
            <a:ext cx="11002975" cy="457200"/>
          </a:xfrm>
          <a:prstGeom prst="roundRect">
            <a:avLst>
              <a:gd name="adj" fmla="val 16000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87044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slide ini. Lima baris ini menjelaskan hampir semua kegagalan JOIN yang akan kamu alami.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SEUMUR HIDUP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 Query Panjang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panjang terlihat menakutkan, padahal cara membacanya selalu sama. Jangan baca dari atas ke bawah — baca sesuai urutan database MENGERJAKANNYA.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+ JOIN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ini diambil dari tabel apa saja?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237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mana yang dibuang?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9809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Dikelompokkan berdasarkan apa?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381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383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mana yang dibuang?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8953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840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3840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apa yang akhirnya ditampilkan?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297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29000" y="42976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Diurutkan bagaimana?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754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4754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 berapa baris?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995160" y="2011680"/>
            <a:ext cx="4602175" cy="1965960"/>
          </a:xfrm>
          <a:prstGeom prst="roundRect">
            <a:avLst>
              <a:gd name="adj" fmla="val 3256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78040" y="2148840"/>
            <a:ext cx="4236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k.nama,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(p.id)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p.kategori_id = k.id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p.stok &gt;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k.id, k.nama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&gt;=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95160" y="4206240"/>
            <a:ext cx="4602175" cy="1051560"/>
          </a:xfrm>
          <a:prstGeom prst="roundRect">
            <a:avLst>
              <a:gd name="adj" fmla="val 695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206240"/>
            <a:ext cx="4053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dari kategori, tempelkan produk → buang yang stoknya habis → kelompokkan per kategori → buang yang produknya &lt; 2 → tampilkan nama &amp; jumlah → urutkan terbanyak → ambil 5 teratas.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" y="5486400"/>
            <a:ext cx="11002975" cy="640080"/>
          </a:xfrm>
          <a:prstGeom prst="roundRect">
            <a:avLst>
              <a:gd name="adj" fmla="val 11429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4864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kamu terbiasa dengan urutan ini, tidak ada query yang terasa menakutkan lagi.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· SEMUA DI TAB SQL PHPMYADMIN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Hari Ini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510714" cy="3566160"/>
          </a:xfrm>
          <a:prstGeom prst="roundRect">
            <a:avLst>
              <a:gd name="adj" fmla="val 327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810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" y="2450592"/>
            <a:ext cx="2035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Database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Nol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3246120"/>
            <a:ext cx="2035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tabel: kategori, produk, pelanggan, pesanan — lengkap dengan datanya.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" y="4297680"/>
            <a:ext cx="2035226" cy="713232"/>
          </a:xfrm>
          <a:prstGeom prst="roundRect">
            <a:avLst>
              <a:gd name="adj" fmla="val 7692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4297680"/>
            <a:ext cx="18157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TABLES; → 4 tabel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5114" y="1600200"/>
            <a:ext cx="2510714" cy="3566160"/>
          </a:xfrm>
          <a:prstGeom prst="roundRect">
            <a:avLst>
              <a:gd name="adj" fmla="val 327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2858" y="1810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2858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62858" y="2450592"/>
            <a:ext cx="2035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858" y="3246120"/>
            <a:ext cx="2035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pertanyaan: filter harga, cari teks, produk tanpa kategori, dan lainnya.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62858" y="4297680"/>
            <a:ext cx="2035226" cy="713232"/>
          </a:xfrm>
          <a:prstGeom prst="roundRect">
            <a:avLst>
              <a:gd name="adj" fmla="val 7692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2586" y="4297680"/>
            <a:ext cx="18157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query jalan tanpa error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5868" y="1600200"/>
            <a:ext cx="2510714" cy="3566160"/>
          </a:xfrm>
          <a:prstGeom prst="roundRect">
            <a:avLst>
              <a:gd name="adj" fmla="val 327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3612" y="1810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361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3612" y="2450592"/>
            <a:ext cx="2035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 &amp;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3612" y="3246120"/>
            <a:ext cx="2035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pertanyaan. Satu soal wajib pakai HAVING, satu lagi WHERE + GROUP BY bersamaan.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3612" y="4297680"/>
            <a:ext cx="2035226" cy="713232"/>
          </a:xfrm>
          <a:prstGeom prst="roundRect">
            <a:avLst>
              <a:gd name="adj" fmla="val 7692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3340" y="4297680"/>
            <a:ext cx="18157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 beda WHERE dan HAVING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86621" y="1600200"/>
            <a:ext cx="2510714" cy="3566160"/>
          </a:xfrm>
          <a:prstGeom prst="roundRect">
            <a:avLst>
              <a:gd name="adj" fmla="val 3278"/>
            </a:avLst>
          </a:prstGeom>
          <a:solidFill>
            <a:srgbClr val="EEEBF9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4365" y="1810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4365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24365" y="2450592"/>
            <a:ext cx="2035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(Latihan Utama)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4365" y="3246120"/>
            <a:ext cx="20352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soal dari INNER dasar sampai JOIN 3 tabel + GROUP BY. Kerjakan berurutan.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24365" y="4297680"/>
            <a:ext cx="2035226" cy="713232"/>
          </a:xfrm>
          <a:prstGeom prst="roundRect">
            <a:avLst>
              <a:gd name="adj" fmla="val 7692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34093" y="4297680"/>
            <a:ext cx="181577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menjelaskan KENAPA soal 2 &amp; 3 tidak bisa pakai INNER JOIN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376672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37667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sangat pandai menulis query, jadi sangat menggoda untuk langsung menyalin. Masalahnya, di P12 kamu harus MEN-DEBUG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yang hasilnya tidak sesuai harapan — dan kamu tidak bisa men-debug sesuatu yang tidak kamu pahami.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DIKUMPULKAN SEBELUM PERTEMUAN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Pertemuan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database untuk TEMA PILIHANMU SENDIRI — bebas, asal bukan toko, supaya kamu benar-benar merancang.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perpustakaan, klinik, rental mobil, kafe, sekolah musik, laundry.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624328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3 tabel berelasi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2825496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 primary key dan foreign key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423160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9896" y="2624328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9896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18808" y="2514600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5 baris per tabel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18808" y="2825496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masuk akal, bukan asal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264408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465576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5584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satu data "bolong"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3666744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NULL, untuk demo LEFT JOIN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78728" y="3264408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9896" y="3465576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9896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8808" y="335584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12 query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18808" y="3666744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WHERE (satu pakai LIKE), 2 ORDER+LIMIT, 1 UPDATE, 1 DELETE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4105656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4306824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306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4197096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query agregat + GROUP BY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34440" y="4507992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satunya memakai HAVING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78728" y="4105656"/>
            <a:ext cx="5318608" cy="713232"/>
          </a:xfrm>
          <a:prstGeom prst="roundRect">
            <a:avLst>
              <a:gd name="adj" fmla="val 8974"/>
            </a:avLst>
          </a:prstGeom>
          <a:solidFill>
            <a:srgbClr val="EEEBF9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9896" y="4306824"/>
            <a:ext cx="320040" cy="320040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9896" y="4306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8808" y="4197096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query JOIN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18808" y="4507992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satu INNER, satu LEFT, satu JOIN 3 tabel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" y="502920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Kumpulkan: file .sql hasil Export phpMyAdmin  +  file berisi semua query berkomentar  +  gambar ERD  +  screenshot 3 query JOIN.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94360" y="56692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database ini. Di P11, query yang kamu tulis hari ini akan dipanggil dari dalam kode PHP.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SLIDE INI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Query Error, Cek Ini Dulu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· SQL &amp;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865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1728216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sudah hijau di XAMPP?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52728" y="205740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merah, phpMyAdmin tidak bisa apa-apa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627632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8184" y="1865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7096" y="1728216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masuk ke database yang benar?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37096" y="205740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nama database di panel kiri dulu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7980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2660904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pakai petik SATU?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52728" y="2990088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'Laptop' — bukan "Laptop"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25603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27980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7096" y="2660904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klausa sudah benar?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37096" y="2990088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S-F-W-G-H-O-L, tidak boleh ditukar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493008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730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3593592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 ada WHERE-nya?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52728" y="3922776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WHERE = seluruh tabel kena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8728" y="3493008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8184" y="3730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7096" y="3593592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data kosong pakai IS NULL?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37096" y="3922776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= NULL — hasilnya selalu kosong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4425696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6634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728" y="4526280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JOIN ada ON-nya?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52728" y="4855464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ON = hasil membengkak jadi sampah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8728" y="4425696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8184" y="46634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7096" y="4526280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bentrok sudah diberi prefix?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37096" y="4855464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p.nama dan k.nama, bukan nama saja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" y="5486400"/>
            <a:ext cx="11002975" cy="640080"/>
          </a:xfrm>
          <a:prstGeom prst="roundRect">
            <a:avLst>
              <a:gd name="adj" fmla="val 11429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4864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pertanyaan ini menjawab hampir semua error SQL yang akan kamu temui.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JUMPA DI PERTEMUAN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dan MySQL akhirnya disatukan. Array dummy dari P9 kita ganti dengan data asli dari database —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struktur kodenya hampir tidak berubah, karena hasil query MySQL bentuknya PERSIS seperti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associative yang sudah kamu kuasai.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88620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E2865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404164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438912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477316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Koneksi, tampil &amp; tambah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938" y="388620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9970" y="404164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9970" y="438912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39970" y="477316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delete, search, paginasi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3517" y="388620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9549" y="404164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29549" y="438912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9549" y="477316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&amp; prepared statement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8064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Haltev IT Learning Center  ·  AI-Enhanced Website Fullstack Bootcamp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P10 — SQL &amp; Database</dc:title>
  <dc:subject>PptxGenJS Presentation</dc:subject>
  <dc:creator>Haltev IT Learning Center</dc:creator>
  <cp:lastModifiedBy>Haltev IT Learning Center</cp:lastModifiedBy>
  <cp:revision>1</cp:revision>
  <dcterms:created xsi:type="dcterms:W3CDTF">2026-08-01T02:47:01Z</dcterms:created>
  <dcterms:modified xsi:type="dcterms:W3CDTF">2026-08-01T02:47:01Z</dcterms:modified>
</cp:coreProperties>
</file>
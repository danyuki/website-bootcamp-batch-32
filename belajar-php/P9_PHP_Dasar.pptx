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 3 menit. Tanyakan dulu: "Kemarin exam-nya gimana?" lalu sambungkan: hari ini kita pindah ke sisi yang belum pernah kalian lihat — sisi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peta ini di awal supaya murid tahu latihan baru dimulai di 15 menit terakhir — sisanya konsep + live coding.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kalimat terakhir. Ini menurunkan kecemasan murid — mereka tidak sedang belajar dari nol.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menit. Bagian paling konseptual hari ini. Jangan buru-buru — kalau bagian ini nyangkut, sisa bootcamp jadi jauh lebih mudah.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 baris BACKEND. Katakan: password database nanti ditulis di lapisan ini — makanya user tidak boleh bisa melihatnya.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ini akan dipakai lagi di P10 (gudang = database) dan P11 (dapur ambil bahan dari gudang).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LAKUKAN INI LIVE, jangan cuma tunjukkan slide. Buka demo.php di browser, klik kanan, View Page Source. Ini momen "oh" yang bikin sisa pertemuan masuk akal. Sediakan 5 menit.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sering bingung "kenapa tombol saya tidak jalan di PHP?". Jawabannya ada di slide ini. Ulangi saat masuk bagian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menit. Pastikan semua murid sampai tahap Apache hijau sebelum lanjut. Ini biasanya paling makan waktu.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Kalau Apache tidak mau hijau: hampir selalu port 80 dipakai aplikasi lain. Solusi cepat: ganti port Apache ke 8080.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murid memfoto slide ini. 80% pertanyaan di 3 pertemuan ke depan jawabannya ada di sini.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menit. Ngebut saja di bagian yang mirip JS — fokus waktu di hal yang BEDA: titik untuk gabung string, petik dua vs satu, elseif.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coding: sengaja hapus satu titik koma, tunjukkan pesan errornya, lalu perbaiki. Murid harus terbiasa membaca error, bukan takut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Demokan var_dump("15000") — murid kaget karena hasilnya string(5), bukan angka. Ini jadi bekal saat nanti data form ternyata selalu string.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Jebakan nomor 1 adalah error paling sering di 2 pertemuan ke depan. Ulangi berkali-kali: PHP pakai titik.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Jangan lama-lama di sini — murid sudah paham operator dari P5. Cukup tekankan === dan .= yang baru buat mereka.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Cepat saja. Murid sudah kuasai logika ini dari P5. Yang benar-benar baru cuma elseif yang menyatu.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menit. Bagian ini penting karena bentuk datanya akan persis sama dengan hasil query database di P11.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Tanda =&gt; dibaca "berpasangan dengan". Murid yang terbiasa JS sering menulis $produk.nama — pastikan mereka menulis ulang beberapa kali.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number_format($angka, 0, ',', '.') menghasilkan format rupiah Indonesia. Minta murid menghafal pola ini — dipakai terus sampai Laravel.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Jebakan scope ini pasti kena minimal satu murid. Kalau ada yang errornya "Undefined variable", langsung tunjuk slide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menit. Ini bagian paling penting. Kalau waktu mepet, potong bagian lain — jangan bagian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Pastikan semua murid mengganti kebiasaan &lt;?php echo ... ?&gt; jadi &lt;?= ... ?&gt;. Kode mereka akan jauh lebih rapi di latihan nanti.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versi kurawal lebih dulu supaya murid merasakan sendiri betapa sulit dibaca, baru tunjukkan versi alternatifnya.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CODING slide ini dari nol, jangan tempel jadi. Mulai dari tabel HTML statis 2 baris, lalu ganti jadi foreach. Sediakan 10 menit.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Kalau ada waktu: buka latihan katalog mereka dari P6 berdampingan dengan versi PHP hari ini, lalu View Source keduanya.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menit terakhir. Kalau waktu habis, bagian form boleh dijadikan PR — tapi include/require harus sempat dibahas karena dipakai di semua latihan.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Latihan 1 murni menguji bagian ini. Pastikan semua murid paham sebelum kelas bubar.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Aturan praktis yang mudah diingat: GET untuk MEMBACA, POST untuk MENGUBAH. Latihan 3 pakai GET karena hasil filter harus bisa dibagikan lewat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Demokan XSS-nya: ketik &lt;script&gt;alert("hack")&lt;/script&gt; di form tanpa htmlspecialchars. Murid akan ingat seumur hidup.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Kalau waktu tinggal 15 menit, mulai Latihan 1 bersama-sama di kelas, Latihan 2 dan 3 jadi PR.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kalimat terakhir. Tugas ini bukan latihan sekali pakai — ini fondasi proyek sampai Exam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murid memfoto slide ini sebelum kelas bubar. Rujuk slide ini setiap kali ada yang bertanya di sesi berikutnya.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mengingatkan: jangan hapus proyek hari ini. Minggu depan bawa laptop dengan XAMPP yang sudah jalan.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0" y="356616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2A2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HALTEV IT LEARNING CENTER  ·  WEB DEVELOPMENT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8288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Dasar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594360" y="2880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di Sisi Server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3977640"/>
            <a:ext cx="5394960" cy="566928"/>
          </a:xfrm>
          <a:prstGeom prst="roundRect">
            <a:avLst>
              <a:gd name="adj" fmla="val 16129"/>
            </a:avLst>
          </a:prstGeom>
          <a:solidFill>
            <a:srgbClr val="272350"/>
          </a:solidFill>
          <a:ln w="12700">
            <a:solidFill>
              <a:srgbClr val="2723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397764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9   ·   2 jam   ·   VS Code + XAMPP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· 120 MENIT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Sesi Hari Ini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PHP Dasar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3423818" cy="1874520"/>
          </a:xfrm>
          <a:prstGeom prst="roundRect">
            <a:avLst>
              <a:gd name="adj" fmla="val 3902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801368"/>
            <a:ext cx="420624" cy="420624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44168" y="178308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vs Backend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3816" y="2350008"/>
            <a:ext cx="29849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menit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butuh PHP, dan demo View Source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3938" y="1600200"/>
            <a:ext cx="3423818" cy="1874520"/>
          </a:xfrm>
          <a:prstGeom prst="roundRect">
            <a:avLst>
              <a:gd name="adj" fmla="val 3902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85106" y="1801368"/>
            <a:ext cx="420624" cy="420624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5106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33746" y="178308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XAMPP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03394" y="2350008"/>
            <a:ext cx="29849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menit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Instalasi, htdocs, dan aturan localhost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73517" y="1600200"/>
            <a:ext cx="3423818" cy="1874520"/>
          </a:xfrm>
          <a:prstGeom prst="roundRect">
            <a:avLst>
              <a:gd name="adj" fmla="val 3902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74685" y="1801368"/>
            <a:ext cx="420624" cy="420624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74685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23325" y="178308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PHP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92973" y="2350008"/>
            <a:ext cx="29849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menit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Variabel, string, operator, kondisi, loop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3749040"/>
            <a:ext cx="3423818" cy="1874520"/>
          </a:xfrm>
          <a:prstGeom prst="roundRect">
            <a:avLst>
              <a:gd name="adj" fmla="val 3902"/>
            </a:avLst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" y="3950208"/>
            <a:ext cx="420624" cy="420624"/>
          </a:xfrm>
          <a:prstGeom prst="ellipse">
            <a:avLst/>
          </a:prstGeom>
          <a:solidFill>
            <a:srgbClr val="8B7FD4"/>
          </a:solidFill>
          <a:ln w="12700">
            <a:solidFill>
              <a:srgbClr val="8B7F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44168" y="393192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&amp; Function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13816" y="4498848"/>
            <a:ext cx="29849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menit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dummy dan jebakan variable scope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83938" y="3749040"/>
            <a:ext cx="3423818" cy="1874520"/>
          </a:xfrm>
          <a:prstGeom prst="roundRect">
            <a:avLst>
              <a:gd name="adj" fmla="val 3902"/>
            </a:avLst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85106" y="3950208"/>
            <a:ext cx="420624" cy="420624"/>
          </a:xfrm>
          <a:prstGeom prst="ellipse">
            <a:avLst/>
          </a:prstGeom>
          <a:solidFill>
            <a:srgbClr val="8B7FD4"/>
          </a:solidFill>
          <a:ln w="12700">
            <a:solidFill>
              <a:srgbClr val="8B7F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85106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133746" y="393192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+ HTML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03394" y="4498848"/>
            <a:ext cx="29849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menit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 hari ini: array jadi tabel HTML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73517" y="3749040"/>
            <a:ext cx="3423818" cy="1874520"/>
          </a:xfrm>
          <a:prstGeom prst="roundRect">
            <a:avLst>
              <a:gd name="adj" fmla="val 3902"/>
            </a:avLst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74685" y="3950208"/>
            <a:ext cx="420624" cy="420624"/>
          </a:xfrm>
          <a:prstGeom prst="ellipse">
            <a:avLst/>
          </a:prstGeom>
          <a:solidFill>
            <a:srgbClr val="8B7FD4"/>
          </a:solidFill>
          <a:ln w="12700">
            <a:solidFill>
              <a:srgbClr val="8B7F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74685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923325" y="393192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&amp; Latihan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392973" y="4498848"/>
            <a:ext cx="29849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menit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$_GET, $_POST, lalu mulai latihan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P1–P8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Bekal yang Sudah Kamu Punya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PHP Dasar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1371600" cy="603504"/>
          </a:xfrm>
          <a:prstGeom prst="roundRect">
            <a:avLst>
              <a:gd name="adj" fmla="val 12121"/>
            </a:avLst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72768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P1–P2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94560" y="157276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34840" y="1572768"/>
            <a:ext cx="71624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Struktur, form, tabel, multi halaman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359152"/>
            <a:ext cx="1371600" cy="603504"/>
          </a:xfrm>
          <a:prstGeom prst="roundRect">
            <a:avLst>
              <a:gd name="adj" fmla="val 12121"/>
            </a:avLst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5915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P3–P4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94560" y="235915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434840" y="2359152"/>
            <a:ext cx="71624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model, Flexbox, Grid, Bootstrap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3145536"/>
            <a:ext cx="1371600" cy="603504"/>
          </a:xfrm>
          <a:prstGeom prst="roundRect">
            <a:avLst>
              <a:gd name="adj" fmla="val 12121"/>
            </a:avLst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145536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P5–P6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194560" y="3145536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434840" y="3145536"/>
            <a:ext cx="71624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Variabel, loop, function, array, object, DOM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3931920"/>
            <a:ext cx="1371600" cy="603504"/>
          </a:xfrm>
          <a:prstGeom prst="roundRect">
            <a:avLst>
              <a:gd name="adj" fmla="val 12121"/>
            </a:avLst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93192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P7–P8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194560" y="393192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Exam 1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434840" y="3931920"/>
            <a:ext cx="71624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website frontend lengkap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4956048"/>
            <a:ext cx="11002975" cy="914400"/>
          </a:xfrm>
          <a:prstGeom prst="roundRect">
            <a:avLst>
              <a:gd name="adj" fmla="val 8000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956048"/>
            <a:ext cx="10454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materi hari ini adalah konsep yang SUDAH kamu kuasai — cuma ganti bahasa.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benar-benar baru cuma satu: tempat kodenya berjalan.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331720"/>
            <a:ext cx="1051560" cy="1051560"/>
          </a:xfrm>
          <a:prstGeom prst="roundRect">
            <a:avLst>
              <a:gd name="adj" fmla="val 13913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057400" y="2286000"/>
            <a:ext cx="9539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vs Backend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057400" y="3054096"/>
            <a:ext cx="9539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mana sebenarnya kodemu berjalan?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Lapisan Sebuah Website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PHP Dasar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1920240" cy="530352"/>
          </a:xfrm>
          <a:prstGeom prst="roundRect">
            <a:avLst>
              <a:gd name="adj" fmla="val 12069"/>
            </a:avLst>
          </a:prstGeom>
          <a:solidFill>
            <a:srgbClr val="8B7FD4"/>
          </a:solidFill>
          <a:ln w="12700">
            <a:solidFill>
              <a:srgbClr val="8B7F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288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157276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63640" y="157276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 di: Browser pengunjung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15400" y="1572768"/>
            <a:ext cx="2453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dilihat user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2807208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EEEBF9"/>
          </a:solidFill>
          <a:ln w="19050">
            <a:solidFill>
              <a:srgbClr val="5B4B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063240"/>
            <a:ext cx="1920240" cy="530352"/>
          </a:xfrm>
          <a:prstGeom prst="roundRect">
            <a:avLst>
              <a:gd name="adj" fmla="val 12069"/>
            </a:avLst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6324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280720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3640" y="280720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 di: Server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15400" y="2807208"/>
            <a:ext cx="2453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bisa dilihat user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4041648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297680"/>
            <a:ext cx="1920240" cy="530352"/>
          </a:xfrm>
          <a:prstGeom prst="roundRect">
            <a:avLst>
              <a:gd name="adj" fmla="val 12069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29768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404164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63640" y="404164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 di: Server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15400" y="4041648"/>
            <a:ext cx="2453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bisa dilihat user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544068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hari ini kamu turun satu lapis — dari browser ke server.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Analogi: Website Itu Restoran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PHP Dasar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5318608" cy="1508760"/>
          </a:xfrm>
          <a:prstGeom prst="roundRect">
            <a:avLst>
              <a:gd name="adj" fmla="val 5455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83080"/>
            <a:ext cx="480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Ruang Makan &amp; Menu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50392" y="2240280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8B7FD4"/>
          </a:solidFill>
          <a:ln w="12700">
            <a:solidFill>
              <a:srgbClr val="8B7F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402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" y="2642616"/>
            <a:ext cx="480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dilihat dan disentuh pelanggan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8728" y="1600200"/>
            <a:ext cx="5318608" cy="1508760"/>
          </a:xfrm>
          <a:prstGeom prst="roundRect">
            <a:avLst>
              <a:gd name="adj" fmla="val 5455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4760" y="1783080"/>
            <a:ext cx="480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Dapur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34760" y="2240280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4760" y="22402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4760" y="2642616"/>
            <a:ext cx="480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Tempat masakan diolah. Pelanggan tidak boleh masuk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3383280"/>
            <a:ext cx="5318608" cy="1508760"/>
          </a:xfrm>
          <a:prstGeom prst="roundRect">
            <a:avLst>
              <a:gd name="adj" fmla="val 5455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566160"/>
            <a:ext cx="480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Gudang Bahan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50392" y="4023360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4023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0392" y="4425696"/>
            <a:ext cx="480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Tempat semua bahan disimpan permanen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78728" y="3383280"/>
            <a:ext cx="5318608" cy="1508760"/>
          </a:xfrm>
          <a:prstGeom prst="roundRect">
            <a:avLst>
              <a:gd name="adj" fmla="val 5455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4760" y="3566160"/>
            <a:ext cx="480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Pelayan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534760" y="4023360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8A6E12"/>
          </a:solidFill>
          <a:ln w="12700">
            <a:solidFill>
              <a:srgbClr val="8A6E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4760" y="4023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4760" y="4425696"/>
            <a:ext cx="480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Mengantar pesanan, lalu membawa hidangan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94360" y="5349240"/>
            <a:ext cx="11002975" cy="658368"/>
          </a:xfrm>
          <a:prstGeom prst="roundRect">
            <a:avLst>
              <a:gd name="adj" fmla="val 11111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349240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tidak pernah melihat dapur. Mereka cuma menerima piring yang sudah jadi — itu persis cara kerja PHP.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VS BACKEND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Wajib: Buktikan Sendiri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PHP Dasar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4892040" cy="1737360"/>
          </a:xfrm>
          <a:prstGeom prst="roundRect">
            <a:avLst>
              <a:gd name="adj" fmla="val 3684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4533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KAMU TULIS — demo.php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4526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Halo dari server!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Angka: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* 7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?&gt;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23560" y="1874520"/>
            <a:ext cx="868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6492240" y="1874520"/>
            <a:ext cx="4892040" cy="1737360"/>
          </a:xfrm>
          <a:prstGeom prst="roundRect">
            <a:avLst>
              <a:gd name="adj" fmla="val 3684"/>
            </a:avLst>
          </a:prstGeom>
          <a:solidFill>
            <a:srgbClr val="10331F"/>
          </a:solidFill>
          <a:ln w="6350">
            <a:solidFill>
              <a:srgbClr val="10331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54533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USER LIHAT — View Page Source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2011680"/>
            <a:ext cx="4526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Halo dari server!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Angka: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977640"/>
            <a:ext cx="11002975" cy="777240"/>
          </a:xfrm>
          <a:prstGeom prst="roundRect">
            <a:avLst>
              <a:gd name="adj" fmla="val 9412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9776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 &lt;?php,  echo,  dan  5 * 7  LENYAP. Yang tersisa cuma hasilnya: 35.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94360" y="498348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Bandingkan dengan JavaScript: 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kamu tulis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document.write(5*7)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kode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5*7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itu TETAP terlihat di View Source — karena browser yang menjalankannya.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VS BACKEND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Konsekuensinya: PHP Jalan Sekali Saja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PHP Dasar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800600" y="1572768"/>
            <a:ext cx="339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98968" y="1572768"/>
            <a:ext cx="339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084832"/>
            <a:ext cx="11002975" cy="512064"/>
          </a:xfrm>
          <a:prstGeom prst="rect">
            <a:avLst/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08483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jalan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2084832"/>
            <a:ext cx="339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Terus-menerus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98968" y="2084832"/>
            <a:ext cx="339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Sekali, saat halaman dimuat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8952" y="259689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Merespons klik langsung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596896"/>
            <a:ext cx="339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98968" y="2596896"/>
            <a:ext cx="339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— harus reload dulu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108960"/>
            <a:ext cx="11002975" cy="512064"/>
          </a:xfrm>
          <a:prstGeom prst="rect">
            <a:avLst/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310896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database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3108960"/>
            <a:ext cx="339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98968" y="3108960"/>
            <a:ext cx="339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" y="362102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file di server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3621024"/>
            <a:ext cx="339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98968" y="3621024"/>
            <a:ext cx="339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" y="4133088"/>
            <a:ext cx="11002975" cy="512064"/>
          </a:xfrm>
          <a:prstGeom prst="rect">
            <a:avLst/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413308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dilihat user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4133088"/>
            <a:ext cx="339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98968" y="4133088"/>
            <a:ext cx="339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" y="4892040"/>
            <a:ext cx="11002975" cy="1005840"/>
          </a:xfrm>
          <a:prstGeom prst="roundRect">
            <a:avLst>
              <a:gd name="adj" fmla="val 7273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892040"/>
            <a:ext cx="10454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di PHP kamu mau bereaksi terhadap aksi user, caranya adalah MEMUAT ULANG HALAMAN 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lewat klik link atau submit form. Kita bahas di bagian terakhir hari ini.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331720"/>
            <a:ext cx="1051560" cy="1051560"/>
          </a:xfrm>
          <a:prstGeom prst="roundRect">
            <a:avLst>
              <a:gd name="adj" fmla="val 13913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057400" y="2286000"/>
            <a:ext cx="9539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XAMPP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057400" y="3054096"/>
            <a:ext cx="9539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tidak bisa di-double-click seperti HTML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Langkah Setup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PHP Dasar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2510714" cy="1965960"/>
          </a:xfrm>
          <a:prstGeom prst="roundRect">
            <a:avLst>
              <a:gd name="adj" fmla="val 3721"/>
            </a:avLst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847088"/>
            <a:ext cx="420624" cy="420624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44168" y="1828800"/>
            <a:ext cx="15963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Unduh XAMPP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3816" y="2395728"/>
            <a:ext cx="207180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apachefriends.org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versi PHP 8.x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25114" y="1645920"/>
            <a:ext cx="2510714" cy="1965960"/>
          </a:xfrm>
          <a:prstGeom prst="roundRect">
            <a:avLst>
              <a:gd name="adj" fmla="val 3721"/>
            </a:avLst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26282" y="1847088"/>
            <a:ext cx="420624" cy="420624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26282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74922" y="1828800"/>
            <a:ext cx="15963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Default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44570" y="2395728"/>
            <a:ext cx="207180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terus sampai selesai.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perlu ubah apa pun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55868" y="1645920"/>
            <a:ext cx="2510714" cy="1965960"/>
          </a:xfrm>
          <a:prstGeom prst="roundRect">
            <a:avLst>
              <a:gd name="adj" fmla="val 3721"/>
            </a:avLst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57036" y="1847088"/>
            <a:ext cx="420624" cy="420624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7036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05676" y="1828800"/>
            <a:ext cx="15963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Apache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75324" y="2395728"/>
            <a:ext cx="207180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Control Panel,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Start sampai HIJAU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086621" y="1645920"/>
            <a:ext cx="2510714" cy="1965960"/>
          </a:xfrm>
          <a:prstGeom prst="roundRect">
            <a:avLst>
              <a:gd name="adj" fmla="val 3721"/>
            </a:avLst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87789" y="1847088"/>
            <a:ext cx="420624" cy="420624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7789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836429" y="1828800"/>
            <a:ext cx="15963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Folder Kerja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06077" y="2395728"/>
            <a:ext cx="207180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C:\xampp\htdocs\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belajar-php\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94360" y="3913632"/>
            <a:ext cx="11002975" cy="640080"/>
          </a:xfrm>
          <a:prstGeom prst="roundRect">
            <a:avLst>
              <a:gd name="adj" fmla="val 11429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3913632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belum perlu di-Start hari ini. Baru dibutuhkan Pertemuan 10.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4360" y="475488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file PHP WAJIB berada di dalam folder htdocs: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94360" y="5138928"/>
            <a:ext cx="11002975" cy="777240"/>
          </a:xfrm>
          <a:prstGeom prst="roundRect">
            <a:avLst>
              <a:gd name="adj" fmla="val 8235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7240" y="5276088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 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C:\xampp\htdocs\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macOS   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/Applications/XAMPP/htdocs/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 · WAJIB DIINGAT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Nomor Satu Pemula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PHP Dasar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318608" cy="1600200"/>
          </a:xfrm>
          <a:prstGeom prst="roundRect">
            <a:avLst>
              <a:gd name="adj" fmla="val 5143"/>
            </a:avLst>
          </a:prstGeom>
          <a:solidFill>
            <a:srgbClr val="FBECEB"/>
          </a:solidFill>
          <a:ln w="19050">
            <a:solidFill>
              <a:srgbClr val="C24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37360"/>
            <a:ext cx="480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 — double-click file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2148840"/>
            <a:ext cx="480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file:///C:/.../demo.php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0392" y="2560320"/>
            <a:ext cx="480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PHP tampil mentah, atau file malah terunduh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8728" y="1572768"/>
            <a:ext cx="5318608" cy="1600200"/>
          </a:xfrm>
          <a:prstGeom prst="roundRect">
            <a:avLst>
              <a:gd name="adj" fmla="val 5143"/>
            </a:avLst>
          </a:prstGeom>
          <a:solidFill>
            <a:srgbClr val="E7F5ED"/>
          </a:solidFill>
          <a:ln w="19050">
            <a:solidFill>
              <a:srgbClr val="2E9E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4760" y="1737360"/>
            <a:ext cx="480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BENAR — lewat web server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4760" y="2148840"/>
            <a:ext cx="480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http://localhost/belajar-php/demo.php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4760" y="2560320"/>
            <a:ext cx="480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diproses server dulu, lalu hasilnya dikirim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364992"/>
            <a:ext cx="11002975" cy="658368"/>
          </a:xfrm>
          <a:prstGeom prst="roundRect">
            <a:avLst>
              <a:gd name="adj" fmla="val 11111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364992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mutlak: kalau di address bar ada tulisan  file:///  — itu PASTI salah.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425196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Gejala lain yang sering muncul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 not found! Error 404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09160" y="4645152"/>
            <a:ext cx="6888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file/folder salah ketik, atau file tidak ada di htdocs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51480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Halaman kosong putih total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09160" y="5148072"/>
            <a:ext cx="6888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error PHP — set display_errors = On di php.ini, restart Apache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56509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Apache tidak mau Start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709160" y="5650992"/>
            <a:ext cx="6888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 dipakai aplikasi lain (Skype/IIS) — ganti ke port 8080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331720"/>
            <a:ext cx="1051560" cy="1051560"/>
          </a:xfrm>
          <a:prstGeom prst="roundRect">
            <a:avLst>
              <a:gd name="adj" fmla="val 13913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057400" y="2286000"/>
            <a:ext cx="9539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PHP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057400" y="3054096"/>
            <a:ext cx="9539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 besar sudah kamu kenal dari JavaScript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PHP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Tag, echo, dan Titik Koma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PHP Dasar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6309360" cy="2286000"/>
          </a:xfrm>
          <a:prstGeom prst="roundRect">
            <a:avLst>
              <a:gd name="adj" fmla="val 2800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8308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"Halo dunia"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"&lt;h2&gt;Judul Besar&lt;/h2&gt;"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echo boleh mencetak tag HTML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86600" y="1700784"/>
            <a:ext cx="310896" cy="310896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86600" y="1700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43800" y="1645920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Ekstensi file WAJIB .php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543800" y="1993392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.html, kodenya tidak akan dijalankan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86600" y="2478024"/>
            <a:ext cx="310896" cy="310896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2478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43800" y="2423160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= console.log()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543800" y="2770632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Bedanya hasilnya muncul di halaman, bukan Console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86600" y="3255264"/>
            <a:ext cx="310896" cy="310896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43800" y="3200400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koma WAJIB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543800" y="3547872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satu saja → seluruh halaman error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4251960"/>
            <a:ext cx="11002975" cy="685800"/>
          </a:xfrm>
          <a:prstGeom prst="roundRect">
            <a:avLst>
              <a:gd name="adj" fmla="val 10667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25196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error PHP biasanya menunjuk BARIS SETELAHNYA. Kalau error bilang "baris 5", periksa juga baris 4.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5166360"/>
            <a:ext cx="11002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file berisi PHP saja (tanpa HTML di bawahnya), tag penutup ?&gt; sebaiknya TIDAK ditulis — ini standar profesional agar tidak ada spasi liar yang terkirim ke browser.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PHP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Variabel: Semua Diawali $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PHP Dasar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5943600" cy="2148840"/>
          </a:xfrm>
          <a:prstGeom prst="roundRect">
            <a:avLst>
              <a:gd name="adj" fmla="val 2979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83080"/>
            <a:ext cx="5577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$nama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"Budi"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$umur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$tinggi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165.5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$aktif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$nama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Budi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0"/>
            <a:ext cx="4739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let, const, atau var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0" y="2103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509760" y="2103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243230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nama = "Budi";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509760" y="243230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$nama = "Budi";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0" y="288950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PPN = 0.11;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509760" y="288950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PPN = 0.11;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0" y="3401568"/>
            <a:ext cx="4739335" cy="566928"/>
          </a:xfrm>
          <a:prstGeom prst="roundRect">
            <a:avLst>
              <a:gd name="adj" fmla="val 12903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3401568"/>
            <a:ext cx="4190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Case-sensitive:  $nama  ≠  $Nama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16052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Data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4553712"/>
            <a:ext cx="1643329" cy="868680"/>
          </a:xfrm>
          <a:prstGeom prst="roundRect">
            <a:avLst>
              <a:gd name="adj" fmla="val 7368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645152"/>
            <a:ext cx="164332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94360" y="4965192"/>
            <a:ext cx="16433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"Budi"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66289" y="4553712"/>
            <a:ext cx="1643329" cy="868680"/>
          </a:xfrm>
          <a:prstGeom prst="roundRect">
            <a:avLst>
              <a:gd name="adj" fmla="val 7368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6289" y="4645152"/>
            <a:ext cx="164332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466289" y="4965192"/>
            <a:ext cx="16433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38218" y="4553712"/>
            <a:ext cx="1643329" cy="868680"/>
          </a:xfrm>
          <a:prstGeom prst="roundRect">
            <a:avLst>
              <a:gd name="adj" fmla="val 7368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38218" y="4645152"/>
            <a:ext cx="164332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338218" y="4965192"/>
            <a:ext cx="16433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165.5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0148" y="4553712"/>
            <a:ext cx="1643329" cy="868680"/>
          </a:xfrm>
          <a:prstGeom prst="roundRect">
            <a:avLst>
              <a:gd name="adj" fmla="val 7368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0148" y="4645152"/>
            <a:ext cx="164332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210148" y="4965192"/>
            <a:ext cx="16433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/ false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82077" y="4553712"/>
            <a:ext cx="1643329" cy="868680"/>
          </a:xfrm>
          <a:prstGeom prst="roundRect">
            <a:avLst>
              <a:gd name="adj" fmla="val 7368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82077" y="4645152"/>
            <a:ext cx="164332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082077" y="4965192"/>
            <a:ext cx="16433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["a", "b"]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954006" y="4553712"/>
            <a:ext cx="1643329" cy="868680"/>
          </a:xfrm>
          <a:prstGeom prst="roundRect">
            <a:avLst>
              <a:gd name="adj" fmla="val 7368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54006" y="4645152"/>
            <a:ext cx="164332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954006" y="4965192"/>
            <a:ext cx="16433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" y="562356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Bingung isi variabelnya apa? Pakai  var_dump($x)  — ia menampilkan TIPE dan NILAI sekaligus. Ini console.log() versi lebih detail.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PHP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String: Dua Jebakan Klasik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PHP Dasar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110029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Gabung string pakai TITIK, bukan plus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5318608" cy="868680"/>
          </a:xfrm>
          <a:prstGeom prst="roundRect">
            <a:avLst>
              <a:gd name="adj" fmla="val 7368"/>
            </a:avLst>
          </a:prstGeom>
          <a:solidFill>
            <a:srgbClr val="3A1614"/>
          </a:solidFill>
          <a:ln w="6350">
            <a:solidFill>
              <a:srgbClr val="3A16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148840"/>
            <a:ext cx="495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"Halo "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2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$nama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 / hasil aneh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2011680"/>
            <a:ext cx="5318608" cy="868680"/>
          </a:xfrm>
          <a:prstGeom prst="roundRect">
            <a:avLst>
              <a:gd name="adj" fmla="val 7368"/>
            </a:avLst>
          </a:prstGeom>
          <a:solidFill>
            <a:srgbClr val="10331F"/>
          </a:solidFill>
          <a:ln w="6350">
            <a:solidFill>
              <a:srgbClr val="10331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61608" y="2148840"/>
            <a:ext cx="495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"Halo "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$nama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Halo Budi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108960"/>
            <a:ext cx="110029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Petik dua membaca variabel, petik satu tidak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" y="3547872"/>
            <a:ext cx="11002975" cy="1417320"/>
          </a:xfrm>
          <a:prstGeom prst="roundRect">
            <a:avLst>
              <a:gd name="adj" fmla="val 4516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685032"/>
            <a:ext cx="106372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$nama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"Budi"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"Halo $nama"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// Halo Budi    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variabel dibaca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'Halo $nama'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// Halo $nama   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2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dianggap teks biasa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5166360"/>
            <a:ext cx="11002975" cy="713232"/>
          </a:xfrm>
          <a:prstGeom prst="roundRect">
            <a:avLst>
              <a:gd name="adj" fmla="val 10256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166360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isinya array, bungkus kurawal:  "Produk: {$produk['nama']}"   ·   Ini mirip template literal `Halo ${nama}` di JavaScript.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PHP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Operator: Biasakan Tiga Sama Dengan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PHP Dasar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11002975" cy="658368"/>
          </a:xfrm>
          <a:prstGeom prst="rect">
            <a:avLst/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57400" y="160020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 nilainya, tipe diabaikan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03720" y="160020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 == 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89720" y="160020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25856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57400" y="225856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 nilai DAN tipenya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225856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 === 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89720" y="225856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2916936"/>
            <a:ext cx="11002975" cy="658368"/>
          </a:xfrm>
          <a:prstGeom prst="rect">
            <a:avLst/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91693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57400" y="291693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sama nilainya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291693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!=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89720" y="291693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57530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!==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057400" y="357530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sama nilai atau tipenya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357530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 !== 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89720" y="357530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4407408"/>
            <a:ext cx="11002975" cy="914400"/>
          </a:xfrm>
          <a:prstGeom prst="roundRect">
            <a:avLst>
              <a:gd name="adj" fmla="val 8000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407408"/>
            <a:ext cx="10454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dari form SELALU berbentuk string. Karena itu == bisa memberi hasil mengejutkan.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praktis: pakai === sampai kamu punya alasan kuat untuk tidak.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360" y="553212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lain yang perlu diingat:   .=  menyambung string   ·   %  sisa bagi   ·   **  pangkat   ·   &amp;&amp;  ||  !  untuk logika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PHP · HAMPIR SAMA DENGAN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Percabangan &amp; Perulangan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PHP Dasar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5318608" cy="2286000"/>
          </a:xfrm>
          <a:prstGeom prst="roundRect">
            <a:avLst>
              <a:gd name="adj" fmla="val 2800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45336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PERCABANGAN — perhatikan elseif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49528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($nilai &gt;=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"Nilai A"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elseif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($nilai &gt;=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"Nilai B"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"Nilai C"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1874520"/>
            <a:ext cx="5318608" cy="2286000"/>
          </a:xfrm>
          <a:prstGeom prst="roundRect">
            <a:avLst>
              <a:gd name="adj" fmla="val 2800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78728" y="1545336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PERULANGAN — foreach paling sering dipakai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61608" y="2011680"/>
            <a:ext cx="49528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$buah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"Apel"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"Mangga"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$buah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$item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$item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"&lt;br&gt;"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Apel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Mangga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4434840"/>
            <a:ext cx="3454298" cy="1051560"/>
          </a:xfrm>
          <a:prstGeom prst="roundRect">
            <a:avLst>
              <a:gd name="adj" fmla="val 6957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" y="4553712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elseif ditulis MENYATU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13816" y="4919472"/>
            <a:ext cx="3015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"else if" seperti JavaScript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68698" y="4434840"/>
            <a:ext cx="3454298" cy="1051560"/>
          </a:xfrm>
          <a:prstGeom prst="roundRect">
            <a:avLst>
              <a:gd name="adj" fmla="val 6957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8154" y="4553712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wajib pakai break;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88154" y="4919472"/>
            <a:ext cx="3015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break, PHP lanjut ke case di bawahnya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43037" y="4434840"/>
            <a:ext cx="3454298" cy="1051560"/>
          </a:xfrm>
          <a:prstGeom prst="roundRect">
            <a:avLst>
              <a:gd name="adj" fmla="val 6957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2493" y="4553712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 dipakai 90% waktu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62493" y="4919472"/>
            <a:ext cx="3015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menampilkan daftar produk, user, apa pun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56692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— if versi satu baris, sangat berguna di tengah HTML:    echo ($stok &gt; 0) ? "Tersedia" : "Habis";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331720"/>
            <a:ext cx="1051560" cy="1051560"/>
          </a:xfrm>
          <a:prstGeom prst="roundRect">
            <a:avLst>
              <a:gd name="adj" fmla="val 13913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057400" y="2286000"/>
            <a:ext cx="9539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&amp; Function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057400" y="3054096"/>
            <a:ext cx="9539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ini array adalah database kita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Associative Array = Object-nya PHP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PHP Dasar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5318608" cy="2057400"/>
          </a:xfrm>
          <a:prstGeom prst="roundRect">
            <a:avLst>
              <a:gd name="adj" fmla="val 3111"/>
            </a:avLst>
          </a:prstGeom>
          <a:solidFill>
            <a:srgbClr val="2A2438"/>
          </a:solidFill>
          <a:ln w="6350">
            <a:solidFill>
              <a:srgbClr val="2A243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45336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— yang sudah kamu tahu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49528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produk = {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nama: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"Laptop"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harga: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9990000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.nama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8728" y="1874520"/>
            <a:ext cx="5318608" cy="2057400"/>
          </a:xfrm>
          <a:prstGeom prst="roundRect">
            <a:avLst>
              <a:gd name="adj" fmla="val 3111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78728" y="1545336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— padanannya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61608" y="2011680"/>
            <a:ext cx="49528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$produk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"nama"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=&gt;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"Laptop"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"harga"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9990000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$produk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["nama"]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4224528"/>
            <a:ext cx="2545004" cy="1005840"/>
          </a:xfrm>
          <a:prstGeom prst="roundRect">
            <a:avLst>
              <a:gd name="adj" fmla="val 6364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4315968"/>
            <a:ext cx="2288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nama: "Laptop" 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645152"/>
            <a:ext cx="25450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2376" y="4828032"/>
            <a:ext cx="22889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["nama" =&gt; "Laptop"]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13684" y="4224528"/>
            <a:ext cx="2545004" cy="1005840"/>
          </a:xfrm>
          <a:prstGeom prst="roundRect">
            <a:avLst>
              <a:gd name="adj" fmla="val 6364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1700" y="4315968"/>
            <a:ext cx="2288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produk.nama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13684" y="4645152"/>
            <a:ext cx="25450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41700" y="4828032"/>
            <a:ext cx="22889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$produk["nama"]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33008" y="4224528"/>
            <a:ext cx="2545004" cy="1005840"/>
          </a:xfrm>
          <a:prstGeom prst="roundRect">
            <a:avLst>
              <a:gd name="adj" fmla="val 6364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1024" y="4315968"/>
            <a:ext cx="2288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arr.length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33008" y="4645152"/>
            <a:ext cx="25450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61024" y="4828032"/>
            <a:ext cx="22889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count($arr)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52331" y="4224528"/>
            <a:ext cx="2545004" cy="1005840"/>
          </a:xfrm>
          <a:prstGeom prst="roundRect">
            <a:avLst>
              <a:gd name="adj" fmla="val 6364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0347" y="4315968"/>
            <a:ext cx="2288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arr.push(x)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52331" y="4645152"/>
            <a:ext cx="25450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80347" y="4828032"/>
            <a:ext cx="22889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$arr[] = $x;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" y="5440680"/>
            <a:ext cx="11002975" cy="621792"/>
          </a:xfrm>
          <a:prstGeom prst="roundRect">
            <a:avLst>
              <a:gd name="adj" fmla="val 11765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440680"/>
            <a:ext cx="10454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TIDAK punya titik untuk mengakses array. Selalu kurung siku:  $produk["nama"]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· ARRAY OF ASSOCIATIVE ARRAY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Data Paling Penting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PHP Dasar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11002975" cy="2148840"/>
          </a:xfrm>
          <a:prstGeom prst="roundRect">
            <a:avLst>
              <a:gd name="adj" fmla="val 2979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64792"/>
            <a:ext cx="10637215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$daftarProduk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"nama"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"Laptop Pro 14"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"harga"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9990000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"stok"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"nama"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"Mouse Wireless"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"harga"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150000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"stok"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$daftarProduk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["nama"]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- Rp "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number_format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["harga"], 0, ',', '.'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4041648"/>
            <a:ext cx="11002975" cy="914400"/>
          </a:xfrm>
          <a:prstGeom prst="roundRect">
            <a:avLst>
              <a:gd name="adj" fmla="val 8000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041648"/>
            <a:ext cx="10454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 baik-baik bentuk ini. Di Pertemuan 11, data hasil query database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keluarnya PERSIS dalam bentuk yang sama — jadi latihan hari ini langsung terpakai.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5193792"/>
            <a:ext cx="25450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count($arr)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5486400"/>
            <a:ext cx="25450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item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13684" y="5193792"/>
            <a:ext cx="25450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array_sum($arr)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13684" y="5486400"/>
            <a:ext cx="25450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Menjumlahkan isi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33008" y="5193792"/>
            <a:ext cx="25450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in_array($x, $arr)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33008" y="5486400"/>
            <a:ext cx="25450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keberadaan nilai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52331" y="5193792"/>
            <a:ext cx="25450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print_r($arr)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52331" y="5486400"/>
            <a:ext cx="25450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isi (debug)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· BEDA DARI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Function: Satu Jebakan Besar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PHP Dasar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JavaScript, function bisa membaca variabel di luarnya. Di PHP, TIDAK BISA.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212848"/>
            <a:ext cx="5318608" cy="1783080"/>
          </a:xfrm>
          <a:prstGeom prst="roundRect">
            <a:avLst>
              <a:gd name="adj" fmla="val 3590"/>
            </a:avLst>
          </a:prstGeom>
          <a:solidFill>
            <a:srgbClr val="3A1614"/>
          </a:solidFill>
          <a:ln w="6350">
            <a:solidFill>
              <a:srgbClr val="3A16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83664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350008"/>
            <a:ext cx="49528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$pajak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0.11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hitungPajak(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$harga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$harga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C2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$pajak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Error: $pajak tidak dikenal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8728" y="2212848"/>
            <a:ext cx="5318608" cy="1783080"/>
          </a:xfrm>
          <a:prstGeom prst="roundRect">
            <a:avLst>
              <a:gd name="adj" fmla="val 3590"/>
            </a:avLst>
          </a:prstGeom>
          <a:solidFill>
            <a:srgbClr val="10331F"/>
          </a:solidFill>
          <a:ln w="6350">
            <a:solidFill>
              <a:srgbClr val="10331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78728" y="1883664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BENAR — kirim lewat parameter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61608" y="2350008"/>
            <a:ext cx="49528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$pajak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0.11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hitungPajak(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$harga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$pajak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$harga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$pajak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hitungPajak(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100000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$pajak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224528"/>
            <a:ext cx="11002975" cy="731520"/>
          </a:xfrm>
          <a:prstGeom prst="roundRect">
            <a:avLst>
              <a:gd name="adj" fmla="val 10000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224528"/>
            <a:ext cx="10454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Anggap function di PHP sebagai ruangan tertutup: apa pun yang dibutuhkan harus dibawa masuk lewat pintu (parameter).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" y="5138928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bantu yang akan kamu pakai terus: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5468112"/>
            <a:ext cx="11002975" cy="685800"/>
          </a:xfrm>
          <a:prstGeom prst="roundRect">
            <a:avLst>
              <a:gd name="adj" fmla="val 9333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605272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rupiah(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$angka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"Rp "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number_format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($angka, 0, ',', '.'); }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rupiah(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9990000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Rp 9.990.000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331720"/>
            <a:ext cx="1051560" cy="1051560"/>
          </a:xfrm>
          <a:prstGeom prst="roundRect">
            <a:avLst>
              <a:gd name="adj" fmla="val 13913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057400" y="2286000"/>
            <a:ext cx="9539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+ HTML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057400" y="3054096"/>
            <a:ext cx="9539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 hari ini — di sinilah PHP jadi berguna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+ HTML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Menyisipkan PHP ke dalam HTML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PHP Dasar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file .php boleh berisi campuran HTML dan PHP. Server menjalankan bagian PHP-nya saja, lalu mengirim sisanya apa adanya.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110029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echo tag — singkatan yang wajib kamu pakai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468880"/>
            <a:ext cx="11002975" cy="1097280"/>
          </a:xfrm>
          <a:prstGeom prst="roundRect">
            <a:avLst>
              <a:gd name="adj" fmla="val 5833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606040"/>
            <a:ext cx="10637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echo $judul; ?&gt;</a:t>
            </a:r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melelahkan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&lt;?= $judul ?&gt;</a:t>
            </a:r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sama persis, jauh lebih ringkas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749040"/>
            <a:ext cx="11002975" cy="713232"/>
          </a:xfrm>
          <a:prstGeom prst="roundRect">
            <a:avLst>
              <a:gd name="adj" fmla="val 10256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749040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  &lt;?= ?&gt;  setiap kali kamu hanya ingin MENAMPILKAN sesuatu di tengah HTML. Titik koma boleh dihilangkan.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4681728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umum di bagian ini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5074920"/>
            <a:ext cx="3454298" cy="914400"/>
          </a:xfrm>
          <a:prstGeom prst="roundRect">
            <a:avLst>
              <a:gd name="adj" fmla="val 7000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5175504"/>
            <a:ext cx="30519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 &lt;?php di file .html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95528" y="5522976"/>
            <a:ext cx="30519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tampil mentah, tidak dijalankan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68698" y="5074920"/>
            <a:ext cx="3454298" cy="914400"/>
          </a:xfrm>
          <a:prstGeom prst="roundRect">
            <a:avLst>
              <a:gd name="adj" fmla="val 7000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9866" y="5175504"/>
            <a:ext cx="30519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endforeach;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69866" y="5522976"/>
            <a:ext cx="30519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error: unexpected end of file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43037" y="5074920"/>
            <a:ext cx="3454298" cy="914400"/>
          </a:xfrm>
          <a:prstGeom prst="roundRect">
            <a:avLst>
              <a:gd name="adj" fmla="val 7000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4205" y="5175504"/>
            <a:ext cx="30519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spasi sebelum &lt;?php di baris 1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44205" y="5522976"/>
            <a:ext cx="30519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Bermasalah nanti saat pakai session (P15)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+ HTML · ALTERNATIVE SYNTAX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Kurawal Diganti Titik Dua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PHP Dasar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5318608" cy="1371600"/>
          </a:xfrm>
          <a:prstGeom prst="roundRect">
            <a:avLst>
              <a:gd name="adj" fmla="val 4667"/>
            </a:avLst>
          </a:prstGeom>
          <a:solidFill>
            <a:srgbClr val="3A2914"/>
          </a:solidFill>
          <a:ln w="6350">
            <a:solidFill>
              <a:srgbClr val="3A29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8A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SULIT DIBACA — kurawal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495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($daftarProduk as $p)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C2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?&gt;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&lt;tr&gt;&lt;td&gt;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&lt;?= $p["nama"] ?&gt;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&lt;/td&gt;&lt;/tr&gt;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C2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1920240"/>
            <a:ext cx="5318608" cy="1371600"/>
          </a:xfrm>
          <a:prstGeom prst="roundRect">
            <a:avLst>
              <a:gd name="adj" fmla="val 4667"/>
            </a:avLst>
          </a:prstGeom>
          <a:solidFill>
            <a:srgbClr val="10331F"/>
          </a:solidFill>
          <a:ln w="6350">
            <a:solidFill>
              <a:srgbClr val="10331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78728" y="1591056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JAUH LEBIH JELAS — alternative syntax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61608" y="2057400"/>
            <a:ext cx="495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($daftarProduk as $p)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?&gt;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&lt;tr&gt;&lt;td&gt;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&lt;?= $p["nama"] ?&gt;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&lt;/td&gt;&lt;/tr&gt;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endforeach;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?&gt;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611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biasa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3611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alternatif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950208"/>
            <a:ext cx="11002975" cy="502920"/>
          </a:xfrm>
          <a:prstGeom prst="rect">
            <a:avLst/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95020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(...) { ... 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39502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(...): ... endif;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45312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(...) { ... }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44531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(...): ... endforeach;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4956048"/>
            <a:ext cx="11002975" cy="502920"/>
          </a:xfrm>
          <a:prstGeom prst="rect">
            <a:avLst/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95604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(...) { ... }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49560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(...): ... endfor;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" y="5577840"/>
            <a:ext cx="11002975" cy="621792"/>
          </a:xfrm>
          <a:prstGeom prst="roundRect">
            <a:avLst>
              <a:gd name="adj" fmla="val 11765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577840"/>
            <a:ext cx="10454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 bentuk alternatif saat PHP bercampur HTML, dan kurawal saat menulis PHP murni. Ini standar industri — Laravel juga begitu.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+ HTML · LOGIKA DI ATAS, TAMPILAN DI BAWAH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Inti: Array → Tabel HTML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PHP Dasar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11002975" cy="4206240"/>
          </a:xfrm>
          <a:prstGeom prst="roundRect">
            <a:avLst>
              <a:gd name="adj" fmla="val 1522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691640"/>
            <a:ext cx="1063721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===== BAGIAN LOGIKA =====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$daftarProduk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"nama"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"Laptop Pro 14"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"harga"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9990000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"stok"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"nama"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"Mouse Wireless"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"harga"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150000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"stok"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===== BAGIAN TAMPILAN ===== --&gt;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"table table-bordered"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&lt;tbody&gt;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$no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?&gt;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$daftarProduk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?&gt;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&lt;tr&gt;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&lt;td&gt;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&lt;?= $no++ ?&gt;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&lt;/td&gt;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&lt;td&gt;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&lt;?= $p["nama"] ?&gt;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&lt;/td&gt;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&lt;td&gt;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&lt;?= rupiah($p["harga"]) ?&gt;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&lt;/td&gt;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&lt;td&gt;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["stok"] &gt;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?&gt;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Tersedia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?&gt;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Habis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endif;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?&gt;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&lt;/td&gt;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&lt;/tr&gt;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endforeach;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?&gt;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&lt;/tbody&gt;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5870448"/>
            <a:ext cx="11002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ini akan kamu ulang puluhan kali sampai akhir bootcamp: logika di atas file, tampilan di bawah.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+ HTML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Bandingkan dengan Cara JavaScript di P6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PHP Dasar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17720" y="1645920"/>
            <a:ext cx="348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(P6)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07528" y="1645920"/>
            <a:ext cx="348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(sekarang)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249424"/>
            <a:ext cx="11002975" cy="603504"/>
          </a:xfrm>
          <a:prstGeom prst="rect">
            <a:avLst/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24942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membuat elemen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17720" y="2249424"/>
            <a:ext cx="348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document.createElement("tr")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07528" y="2249424"/>
            <a:ext cx="348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 &lt;tr&gt; langsung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8952" y="2852928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HTML terbentuk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852928"/>
            <a:ext cx="348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sampai di browser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07528" y="2852928"/>
            <a:ext cx="348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halaman dikirim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456432"/>
            <a:ext cx="11002975" cy="603504"/>
          </a:xfrm>
          <a:prstGeom prst="rect">
            <a:avLst/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3456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Terlihat di View Source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17720" y="3456432"/>
            <a:ext cx="348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07528" y="3456432"/>
            <a:ext cx="348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Ya, HTML-nya sudah jadi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" y="4059936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JavaScript dimatikan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17720" y="4059936"/>
            <a:ext cx="348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kosong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07528" y="4059936"/>
            <a:ext cx="348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 tampil normal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" y="4572000"/>
            <a:ext cx="11002975" cy="1005840"/>
          </a:xfrm>
          <a:prstGeom prst="roundRect">
            <a:avLst>
              <a:gd name="adj" fmla="val 7273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572000"/>
            <a:ext cx="10454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HTML-nya sudah jadi sejak dari server, halaman PHP lebih ramah mesin pencari (SEO)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tetap tampil walau JavaScript bermasalah.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331720"/>
            <a:ext cx="1051560" cy="1051560"/>
          </a:xfrm>
          <a:prstGeom prst="roundRect">
            <a:avLst>
              <a:gd name="adj" fmla="val 13913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057400" y="2286000"/>
            <a:ext cx="9539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&amp; Form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057400" y="3054096"/>
            <a:ext cx="9539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include, require, $_GET, dan $_POST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· INCLUDE &amp; REQUIRE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Navbar untuk Semua Halaman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PHP Dasar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Menyalin navbar ke 10 file berarti: satu perubahan = edit 10 file. PHP punya solusinya.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4114800" cy="2240280"/>
          </a:xfrm>
          <a:prstGeom prst="roundRect">
            <a:avLst>
              <a:gd name="adj" fmla="val 2857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773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FOLDER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3749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belajar-php/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templates/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├── header.php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└── footer.php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index.php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katalog.php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profil.php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74920" y="2103120"/>
            <a:ext cx="6522415" cy="2240280"/>
          </a:xfrm>
          <a:prstGeom prst="roundRect">
            <a:avLst>
              <a:gd name="adj" fmla="val 2857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74920" y="1773936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PAKAI — katalog.php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57800" y="2240280"/>
            <a:ext cx="615665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$judul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"Daftar Produk"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"templates/header.php"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Daftar Produk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&lt;/h3&gt;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"templates/footer.php"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?&gt;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4526280"/>
            <a:ext cx="11002975" cy="502920"/>
          </a:xfrm>
          <a:prstGeom prst="rect">
            <a:avLst/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4526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 "file.php"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03320" y="4526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 peringatan, halaman TETAP LANJUT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18120" y="4526280"/>
            <a:ext cx="3596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bagian opsional (banner promo)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8952" y="5029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"file.php"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703320" y="50292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 error fatal, halaman BERHENTI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18120" y="5029200"/>
            <a:ext cx="3596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yang wajib (header, footer, koneksi DB)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5623560"/>
            <a:ext cx="11002975" cy="566928"/>
          </a:xfrm>
          <a:prstGeom prst="roundRect">
            <a:avLst>
              <a:gd name="adj" fmla="val 12903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62356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penting: set variabel $judul DULU, baru require. Kalau terbalik, header sudah tercetak duluan.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· $_GET &amp; $_POST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Menerima Data dari Pengguna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PHP Dasar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5318608" cy="1691640"/>
          </a:xfrm>
          <a:prstGeom prst="roundRect">
            <a:avLst>
              <a:gd name="adj" fmla="val 3784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45336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$_GET — data lewat URL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49528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halo.php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?nama=Budi&amp;kota=Bekasi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$_GET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["nama"]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Budi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$_GET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["kota"]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807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Bekasi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8728" y="1874520"/>
            <a:ext cx="5318608" cy="1691640"/>
          </a:xfrm>
          <a:prstGeom prst="roundRect">
            <a:avLst>
              <a:gd name="adj" fmla="val 3784"/>
            </a:avLst>
          </a:prstGeom>
          <a:solidFill>
            <a:srgbClr val="171430"/>
          </a:solidFill>
          <a:ln w="6350">
            <a:solidFill>
              <a:srgbClr val="171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78728" y="1545336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$_POST — data lewat form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61608" y="2011680"/>
            <a:ext cx="49528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"POST"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B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"nama"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$_POST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["nama"]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4E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749040"/>
            <a:ext cx="11002975" cy="658368"/>
          </a:xfrm>
          <a:prstGeom prst="roundRect">
            <a:avLst>
              <a:gd name="adj" fmla="val 11111"/>
            </a:avLst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749040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ditangkap PHP adalah atribut  name,  BUKAN  id.  Input tanpa name tidak akan pernah terkirim.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4590288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07528" y="4590288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5047488"/>
            <a:ext cx="11002975" cy="457200"/>
          </a:xfrm>
          <a:prstGeom prst="rect">
            <a:avLst/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50474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terlihat di URL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17720" y="5047488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07528" y="5047488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8952" y="55046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di-bookmark / dibagikan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17720" y="5504688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07528" y="5504688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5961888"/>
            <a:ext cx="11002975" cy="457200"/>
          </a:xfrm>
          <a:prstGeom prst="rect">
            <a:avLst/>
          </a:prstGeom>
          <a:solidFill>
            <a:srgbClr val="F5F4FA"/>
          </a:solidFill>
          <a:ln w="12700">
            <a:solidFill>
              <a:srgbClr val="F5F4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59618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17720" y="5961888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Pencarian, filter, paginasi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07528" y="5961888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daftar akun, simpan data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Penjaga yang Harus Jadi Kebiasaan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PHP Dasar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11002975" cy="1234440"/>
          </a:xfrm>
          <a:prstGeom prst="roundRect">
            <a:avLst>
              <a:gd name="adj" fmla="val 5926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02536"/>
            <a:ext cx="438912" cy="438912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02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35608" y="174650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isset()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214884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$_GET["nama"] belum tentu ada. Kalau halaman dibuka langsung tanpa mengirim form, PHP memberi peringatan Undefined array key.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0" y="1984248"/>
            <a:ext cx="4053535" cy="475488"/>
          </a:xfrm>
          <a:prstGeom prst="roundRect">
            <a:avLst>
              <a:gd name="adj" fmla="val 11538"/>
            </a:avLst>
          </a:prstGeom>
          <a:solidFill>
            <a:srgbClr val="171430"/>
          </a:solidFill>
          <a:ln w="12700">
            <a:solidFill>
              <a:srgbClr val="171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1984248"/>
            <a:ext cx="3779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(isset($_GET["nama"])) { ... }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017520"/>
            <a:ext cx="11002975" cy="1234440"/>
          </a:xfrm>
          <a:prstGeom prst="roundRect">
            <a:avLst>
              <a:gd name="adj" fmla="val 5926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419856"/>
            <a:ext cx="438912" cy="438912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419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35608" y="316382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 (null coalescing)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35608" y="356616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ringkas dari isset. Artinya: "pakai nilai ini, tapi kalau tidak ada pakai nilai cadangan".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0" y="3401568"/>
            <a:ext cx="4053535" cy="475488"/>
          </a:xfrm>
          <a:prstGeom prst="roundRect">
            <a:avLst>
              <a:gd name="adj" fmla="val 11538"/>
            </a:avLst>
          </a:prstGeom>
          <a:solidFill>
            <a:srgbClr val="171430"/>
          </a:solidFill>
          <a:ln w="12700">
            <a:solidFill>
              <a:srgbClr val="171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2360" y="3401568"/>
            <a:ext cx="3779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$nama = $_GET["nama"] ?? "tamu";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4434840"/>
            <a:ext cx="11002975" cy="1234440"/>
          </a:xfrm>
          <a:prstGeom prst="roundRect">
            <a:avLst>
              <a:gd name="adj" fmla="val 5926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837176"/>
            <a:ext cx="438912" cy="438912"/>
          </a:xfrm>
          <a:prstGeom prst="ellipse">
            <a:avLst/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837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35608" y="45811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htmlspecialchars()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35608" y="49834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user tidak boleh dipercaya. Kalau ada yang mengetik tag &lt;script&gt;, kode itu akan benar-benar jalan di halamanmu.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15200" y="4818888"/>
            <a:ext cx="4053535" cy="475488"/>
          </a:xfrm>
          <a:prstGeom prst="roundRect">
            <a:avLst>
              <a:gd name="adj" fmla="val 11538"/>
            </a:avLst>
          </a:prstGeom>
          <a:solidFill>
            <a:srgbClr val="171430"/>
          </a:solidFill>
          <a:ln w="12700">
            <a:solidFill>
              <a:srgbClr val="1714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4818888"/>
            <a:ext cx="37792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htmlspecialchars($_POST["nama"]);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4360" y="580644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htmlspecialchars mencegah serangan bernama XSS. Bahasan lengkapnya di Pertemuan 13 — untuk sekarang cukup jadikan kebiasaan.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· KERJAKAN BERURUTAN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Hari Ini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PHP Dasar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3423818" cy="3429000"/>
          </a:xfrm>
          <a:prstGeom prst="roundRect">
            <a:avLst>
              <a:gd name="adj" fmla="val 2404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1847088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50392" y="2487168"/>
            <a:ext cx="29117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Profil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Layout Terpisah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3310128"/>
            <a:ext cx="29117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3 halaman yang navbar dan footer-nya tidak diketik ulang.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50392" y="4206240"/>
            <a:ext cx="2911754" cy="685800"/>
          </a:xfrm>
          <a:prstGeom prst="roundRect">
            <a:avLst>
              <a:gd name="adj" fmla="val 8000"/>
            </a:avLst>
          </a:prstGeom>
          <a:solidFill>
            <a:srgbClr val="E7F5ED"/>
          </a:solidFill>
          <a:ln w="12700">
            <a:solidFill>
              <a:srgbClr val="E7F5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4206240"/>
            <a:ext cx="265572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header.php mengubah ketiga halaman sekaligus.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3938" y="1627632"/>
            <a:ext cx="3423818" cy="3429000"/>
          </a:xfrm>
          <a:prstGeom prst="roundRect">
            <a:avLst>
              <a:gd name="adj" fmla="val 2404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39970" y="1847088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997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39970" y="2487168"/>
            <a:ext cx="29117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Produk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Array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39970" y="3310128"/>
            <a:ext cx="29117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server-side dari latihan P6. Kartu produk, format rupiah, badge stok.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39970" y="4206240"/>
            <a:ext cx="2911754" cy="685800"/>
          </a:xfrm>
          <a:prstGeom prst="roundRect">
            <a:avLst>
              <a:gd name="adj" fmla="val 8000"/>
            </a:avLst>
          </a:prstGeom>
          <a:solidFill>
            <a:srgbClr val="E7F5ED"/>
          </a:solidFill>
          <a:ln w="12700">
            <a:solidFill>
              <a:srgbClr val="E7F5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7986" y="4206240"/>
            <a:ext cx="265572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Source: seluruh HTML kartu SUDAH JADI di sana.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73517" y="1627632"/>
            <a:ext cx="3423818" cy="3429000"/>
          </a:xfrm>
          <a:prstGeom prst="roundRect">
            <a:avLst>
              <a:gd name="adj" fmla="val 2404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29549" y="1847088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5B4B9E"/>
          </a:solidFill>
          <a:ln w="12700">
            <a:solidFill>
              <a:srgbClr val="5B4B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29549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429549" y="2487168"/>
            <a:ext cx="29117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Produk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$_GET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29549" y="3310128"/>
            <a:ext cx="29117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bisa disaring per kategori, dan hasilnya bisa dibagikan lewat link.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429549" y="4206240"/>
            <a:ext cx="2911754" cy="685800"/>
          </a:xfrm>
          <a:prstGeom prst="roundRect">
            <a:avLst>
              <a:gd name="adj" fmla="val 8000"/>
            </a:avLst>
          </a:prstGeom>
          <a:solidFill>
            <a:srgbClr val="E7F5ED"/>
          </a:solidFill>
          <a:ln w="12700">
            <a:solidFill>
              <a:srgbClr val="E7F5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57565" y="4206240"/>
            <a:ext cx="265572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berubah jadi katalog.php?kategori=Aksesoris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" y="5257800"/>
            <a:ext cx="11002975" cy="777240"/>
          </a:xfrm>
          <a:prstGeom prst="roundRect">
            <a:avLst>
              <a:gd name="adj" fmla="val 9412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525780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di modul berbentuk kerangka + komentar TODO — kamu yang mengisi. Jangan minta AI menuliskan seluruhnya;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 AI untuk menjelaskan error dan memberi umpan balik, bukan mengganti latihan.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DIKUMPULKAN SEBELUM PERTEMUAN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Pertemuan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PHP Dasar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5318608" cy="777240"/>
          </a:xfrm>
          <a:prstGeom prst="roundRect">
            <a:avLst>
              <a:gd name="adj" fmla="val 8235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874520"/>
            <a:ext cx="320040" cy="32004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755648"/>
            <a:ext cx="447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4 halaman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34440" y="2066544"/>
            <a:ext cx="447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Beranda, Katalog, Profil, Kontak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78728" y="1645920"/>
            <a:ext cx="5318608" cy="777240"/>
          </a:xfrm>
          <a:prstGeom prst="roundRect">
            <a:avLst>
              <a:gd name="adj" fmla="val 8235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79896" y="1874520"/>
            <a:ext cx="320040" cy="32004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9896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18808" y="1755648"/>
            <a:ext cx="447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&amp; footer lewat require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918808" y="2066544"/>
            <a:ext cx="447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Diambil dari folder templates/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2606040"/>
            <a:ext cx="5318608" cy="777240"/>
          </a:xfrm>
          <a:prstGeom prst="roundRect">
            <a:avLst>
              <a:gd name="adj" fmla="val 8235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" y="2834640"/>
            <a:ext cx="320040" cy="32004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2715768"/>
            <a:ext cx="447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6 produk dari array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34440" y="3026664"/>
            <a:ext cx="447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Lengkap dengan format rupiah dan badge stok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78728" y="2606040"/>
            <a:ext cx="5318608" cy="777240"/>
          </a:xfrm>
          <a:prstGeom prst="roundRect">
            <a:avLst>
              <a:gd name="adj" fmla="val 8235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9896" y="2834640"/>
            <a:ext cx="320040" cy="32004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9896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18808" y="2715768"/>
            <a:ext cx="447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kategori pakai $_GET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918808" y="3026664"/>
            <a:ext cx="447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filter bisa dibagikan lewat link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4360" y="3566160"/>
            <a:ext cx="5318608" cy="777240"/>
          </a:xfrm>
          <a:prstGeom prst="roundRect">
            <a:avLst>
              <a:gd name="adj" fmla="val 8235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" y="3794760"/>
            <a:ext cx="320040" cy="32004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34440" y="3675888"/>
            <a:ext cx="447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Kontak dengan form POST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234440" y="3986784"/>
            <a:ext cx="447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kembali datanya, bungkus htmlspecialchars()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78728" y="3566160"/>
            <a:ext cx="5318608" cy="777240"/>
          </a:xfrm>
          <a:prstGeom prst="roundRect">
            <a:avLst>
              <a:gd name="adj" fmla="val 8235"/>
            </a:avLst>
          </a:prstGeom>
          <a:solidFill>
            <a:srgbClr val="F5F4FA"/>
          </a:solidFill>
          <a:ln w="12700">
            <a:solidFill>
              <a:srgbClr val="E6E4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79896" y="3794760"/>
            <a:ext cx="320040" cy="32004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9896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18808" y="3675888"/>
            <a:ext cx="447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data masih dummy dari array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918808" y="3986784"/>
            <a:ext cx="447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ada database sama sekali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94360" y="4709160"/>
            <a:ext cx="11002975" cy="621792"/>
          </a:xfrm>
          <a:prstGeom prst="roundRect">
            <a:avLst>
              <a:gd name="adj" fmla="val 11765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4709160"/>
            <a:ext cx="10454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Kumpulkan: folder proyek dalam bentuk .zip  +  screenshot tiap halaman.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94360" y="5468112"/>
            <a:ext cx="11002975" cy="685800"/>
          </a:xfrm>
          <a:prstGeom prst="roundRect">
            <a:avLst>
              <a:gd name="adj" fmla="val 10667"/>
            </a:avLst>
          </a:prstGeom>
          <a:solidFill>
            <a:srgbClr val="EEEBF9"/>
          </a:solidFill>
          <a:ln w="12700">
            <a:solidFill>
              <a:srgbClr val="EEEBF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5468112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baik-baik proyek ini. Mulai Pertemuan 11, array dummy-mu diganti data asli dari database —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strukturnya tidak akan berubah banyak.</a:t>
            </a:r>
            <a:endParaRPr lang="en-US" sz="14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SLIDE INI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Error, Cek Ini Dulu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04869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· PHP Dasar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31860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8B7F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8653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4B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2728" y="1728216"/>
            <a:ext cx="445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Alamatnya sudah http://localhost/ 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52728" y="2057400"/>
            <a:ext cx="445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file:///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8728" y="1627632"/>
            <a:ext cx="531860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8B7F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8184" y="18653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4B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37096" y="1728216"/>
            <a:ext cx="445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Ekstensi filenya .php 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37096" y="2057400"/>
            <a:ext cx="445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.html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2560320"/>
            <a:ext cx="531860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8B7F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" y="279806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4B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52728" y="2660904"/>
            <a:ext cx="445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sudah hijau di Control Panel ?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252728" y="2990088"/>
            <a:ext cx="445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merah, PHP tidak akan jalan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78728" y="2560320"/>
            <a:ext cx="531860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8B7F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8184" y="279806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4B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7096" y="2660904"/>
            <a:ext cx="445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titik koma di akhir tiap baris 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937096" y="2990088"/>
            <a:ext cx="445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sering menunjuk baris SETELAHNYA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3493008"/>
            <a:ext cx="531860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8B7F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" y="373075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4B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52728" y="3593592"/>
            <a:ext cx="445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Gabung string pakai titik, bukan plus ?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252728" y="3922776"/>
            <a:ext cx="445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"Halo " . $nama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78728" y="3493008"/>
            <a:ext cx="531860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8B7F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8184" y="373075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4B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37096" y="3593592"/>
            <a:ext cx="445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variabel sama persis ?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937096" y="3922776"/>
            <a:ext cx="445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$nama dan $Nama itu berbeda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4360" y="4425696"/>
            <a:ext cx="531860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8B7F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" y="466344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4B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52728" y="4526280"/>
            <a:ext cx="445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endforeach; / endif; penutupnya ?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252728" y="4855464"/>
            <a:ext cx="445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lupa: unexpected end of file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78728" y="4425696"/>
            <a:ext cx="531860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8B7F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8184" y="466344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4B9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37096" y="4526280"/>
            <a:ext cx="445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di form punya atribut name ?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937096" y="4855464"/>
            <a:ext cx="445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name, datanya tidak terkirim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94360" y="5486400"/>
            <a:ext cx="11002975" cy="640080"/>
          </a:xfrm>
          <a:prstGeom prst="roundRect">
            <a:avLst>
              <a:gd name="adj" fmla="val 11429"/>
            </a:avLst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5486400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Delapan pertanyaan ini menjawab sekitar 80% error yang akan kamu temui tiga pertemuan ke depan.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8872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SAMPAI JUMPA DI PERTEMUAN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60020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Database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94360" y="2606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9C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 tinggalkan PHP sejenak dan belajar langsung di phpMyAdmin: cara menyimpan data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9C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 permanen, merancang tabel, dan menggabungkan data antar tabel dengan JOIN.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3794760"/>
            <a:ext cx="3423818" cy="1371600"/>
          </a:xfrm>
          <a:prstGeom prst="roundRect">
            <a:avLst>
              <a:gd name="adj" fmla="val 6000"/>
            </a:avLst>
          </a:prstGeom>
          <a:solidFill>
            <a:srgbClr val="2E2865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3950208"/>
            <a:ext cx="29117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" y="4297680"/>
            <a:ext cx="29117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Database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50392" y="4681728"/>
            <a:ext cx="29117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9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Tabel, query, relasi, JOIN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3938" y="3794760"/>
            <a:ext cx="3423818" cy="1371600"/>
          </a:xfrm>
          <a:prstGeom prst="roundRect">
            <a:avLst>
              <a:gd name="adj" fmla="val 6000"/>
            </a:avLst>
          </a:prstGeom>
          <a:solidFill>
            <a:srgbClr val="272350"/>
          </a:solidFill>
          <a:ln w="12700">
            <a:solidFill>
              <a:srgbClr val="272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9970" y="3950208"/>
            <a:ext cx="29117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39970" y="4297680"/>
            <a:ext cx="29117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+ MySQL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39970" y="4681728"/>
            <a:ext cx="29117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9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dummy diganti data asli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73517" y="3794760"/>
            <a:ext cx="3423818" cy="1371600"/>
          </a:xfrm>
          <a:prstGeom prst="roundRect">
            <a:avLst>
              <a:gd name="adj" fmla="val 6000"/>
            </a:avLst>
          </a:prstGeom>
          <a:solidFill>
            <a:srgbClr val="272350"/>
          </a:solidFill>
          <a:ln w="12700">
            <a:solidFill>
              <a:srgbClr val="2723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29549" y="3950208"/>
            <a:ext cx="29117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29549" y="4297680"/>
            <a:ext cx="29117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Lengkap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29549" y="4681728"/>
            <a:ext cx="29117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9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Update, delete, search, paginasi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580644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Haltev IT Learning Center  ·  AI-Enhanced Website Fullstack Bootcamp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P9 — PHP Dasar</dc:title>
  <dc:subject>PptxGenJS Presentation</dc:subject>
  <dc:creator>Haltev IT Learning Center</dc:creator>
  <cp:lastModifiedBy>Haltev IT Learning Center</cp:lastModifiedBy>
  <cp:revision>1</cp:revision>
  <dcterms:created xsi:type="dcterms:W3CDTF">2026-08-01T02:17:50Z</dcterms:created>
  <dcterms:modified xsi:type="dcterms:W3CDTF">2026-08-01T02:17:50Z</dcterms:modified>
</cp:coreProperties>
</file>